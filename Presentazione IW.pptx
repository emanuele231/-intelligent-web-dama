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7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_rels/data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Relationship Id="rId4" Type="http://schemas.openxmlformats.org/officeDocument/2006/relationships/image" Target="../media/image11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svg"/><Relationship Id="rId1" Type="http://schemas.openxmlformats.org/officeDocument/2006/relationships/image" Target="../media/image26.svg"/></Relationships>
</file>

<file path=ppt/diagrams/_rels/drawing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Relationship Id="rId4" Type="http://schemas.openxmlformats.org/officeDocument/2006/relationships/image" Target="../media/image11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svg"/><Relationship Id="rId1" Type="http://schemas.openxmlformats.org/officeDocument/2006/relationships/image" Target="../media/image2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47C238A-B58B-4DA8-943B-A30154A05395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4F8F44E5-51BD-44E8-B7F2-8873E3456051}">
      <dgm:prSet/>
      <dgm:spPr/>
      <dgm:t>
        <a:bodyPr/>
        <a:lstStyle/>
        <a:p>
          <a:r>
            <a:rPr lang="it-IT"/>
            <a:t>Muoversi solo in diagonale e solo verso l’altro lato della tavola</a:t>
          </a:r>
          <a:endParaRPr lang="en-US"/>
        </a:p>
      </dgm:t>
    </dgm:pt>
    <dgm:pt modelId="{2C92FF99-F92E-4AEF-ADB0-79CDB06E6A94}" type="parTrans" cxnId="{E22AEAF9-0F8C-4B8B-9C29-CC2AE4575126}">
      <dgm:prSet/>
      <dgm:spPr/>
      <dgm:t>
        <a:bodyPr/>
        <a:lstStyle/>
        <a:p>
          <a:endParaRPr lang="en-US"/>
        </a:p>
      </dgm:t>
    </dgm:pt>
    <dgm:pt modelId="{84383D5F-DC1B-4A33-9698-E3978FE5CB30}" type="sibTrans" cxnId="{E22AEAF9-0F8C-4B8B-9C29-CC2AE4575126}">
      <dgm:prSet/>
      <dgm:spPr/>
      <dgm:t>
        <a:bodyPr/>
        <a:lstStyle/>
        <a:p>
          <a:endParaRPr lang="en-US"/>
        </a:p>
      </dgm:t>
    </dgm:pt>
    <dgm:pt modelId="{C0F8168A-FE1C-4709-A9B3-B2948224D035}">
      <dgm:prSet/>
      <dgm:spPr/>
      <dgm:t>
        <a:bodyPr/>
        <a:lstStyle/>
        <a:p>
          <a:r>
            <a:rPr lang="it-IT"/>
            <a:t>Mangiare solo in caso in cui nel raggio di movimento è presente una pedina avversaria, seguita da una cella vuota (OBBLIGO DI MANGIARE)</a:t>
          </a:r>
          <a:endParaRPr lang="en-US"/>
        </a:p>
      </dgm:t>
    </dgm:pt>
    <dgm:pt modelId="{F01B1ED0-843E-4C2D-840C-2D57C694557A}" type="parTrans" cxnId="{608C0178-66C6-4F2A-A191-8367DC846A67}">
      <dgm:prSet/>
      <dgm:spPr/>
      <dgm:t>
        <a:bodyPr/>
        <a:lstStyle/>
        <a:p>
          <a:endParaRPr lang="en-US"/>
        </a:p>
      </dgm:t>
    </dgm:pt>
    <dgm:pt modelId="{3C4ED31B-D961-421A-B5E1-12ED95EC1EFA}" type="sibTrans" cxnId="{608C0178-66C6-4F2A-A191-8367DC846A67}">
      <dgm:prSet/>
      <dgm:spPr/>
      <dgm:t>
        <a:bodyPr/>
        <a:lstStyle/>
        <a:p>
          <a:endParaRPr lang="en-US"/>
        </a:p>
      </dgm:t>
    </dgm:pt>
    <dgm:pt modelId="{3D269BFB-5319-49E4-BE8F-80A820EC37F3}">
      <dgm:prSet/>
      <dgm:spPr/>
      <dgm:t>
        <a:bodyPr/>
        <a:lstStyle/>
        <a:p>
          <a:r>
            <a:rPr lang="it-IT"/>
            <a:t>La pedina diventa una DAMA solo se raggiunge l’altro lato della tavola</a:t>
          </a:r>
          <a:endParaRPr lang="en-US"/>
        </a:p>
      </dgm:t>
    </dgm:pt>
    <dgm:pt modelId="{A8081206-17C6-4E0C-BF13-A7D133D17BAF}" type="parTrans" cxnId="{256E7CF2-F47F-484E-B223-2186D482634E}">
      <dgm:prSet/>
      <dgm:spPr/>
      <dgm:t>
        <a:bodyPr/>
        <a:lstStyle/>
        <a:p>
          <a:endParaRPr lang="en-US"/>
        </a:p>
      </dgm:t>
    </dgm:pt>
    <dgm:pt modelId="{455FA4C9-9099-4DB9-AF21-F6B046E15CA6}" type="sibTrans" cxnId="{256E7CF2-F47F-484E-B223-2186D482634E}">
      <dgm:prSet/>
      <dgm:spPr/>
      <dgm:t>
        <a:bodyPr/>
        <a:lstStyle/>
        <a:p>
          <a:endParaRPr lang="en-US"/>
        </a:p>
      </dgm:t>
    </dgm:pt>
    <dgm:pt modelId="{2AF553A0-8AFE-48FE-96CC-9271C6FC94E4}">
      <dgm:prSet/>
      <dgm:spPr/>
      <dgm:t>
        <a:bodyPr/>
        <a:lstStyle/>
        <a:p>
          <a:r>
            <a:rPr lang="it-IT"/>
            <a:t>La dama può muoversi e mangiare in tutte le direzioni (PRIORITA’ ALLA DAMA)</a:t>
          </a:r>
          <a:endParaRPr lang="en-US"/>
        </a:p>
      </dgm:t>
    </dgm:pt>
    <dgm:pt modelId="{40D798B3-AAA9-4826-8784-5B2FE49DA0A0}" type="parTrans" cxnId="{E9D8E00E-EFAA-402F-B260-A0014459DF1A}">
      <dgm:prSet/>
      <dgm:spPr/>
      <dgm:t>
        <a:bodyPr/>
        <a:lstStyle/>
        <a:p>
          <a:endParaRPr lang="en-US"/>
        </a:p>
      </dgm:t>
    </dgm:pt>
    <dgm:pt modelId="{E9F22B1C-0DC6-4CD8-973A-243A96A0F8FF}" type="sibTrans" cxnId="{E9D8E00E-EFAA-402F-B260-A0014459DF1A}">
      <dgm:prSet/>
      <dgm:spPr/>
      <dgm:t>
        <a:bodyPr/>
        <a:lstStyle/>
        <a:p>
          <a:endParaRPr lang="en-US"/>
        </a:p>
      </dgm:t>
    </dgm:pt>
    <dgm:pt modelId="{1A48B5BE-12B2-4507-9E55-0BBCD7896F49}">
      <dgm:prSet/>
      <dgm:spPr/>
      <dgm:t>
        <a:bodyPr/>
        <a:lstStyle/>
        <a:p>
          <a:r>
            <a:rPr lang="it-IT"/>
            <a:t>Una pedina normale non può mangiare una dama</a:t>
          </a:r>
          <a:endParaRPr lang="en-US"/>
        </a:p>
      </dgm:t>
    </dgm:pt>
    <dgm:pt modelId="{AFA64ECB-5E53-49D3-A7A3-E3204BE0E8FE}" type="parTrans" cxnId="{46D7682B-473A-483B-ABA5-C8543FFD91A8}">
      <dgm:prSet/>
      <dgm:spPr/>
      <dgm:t>
        <a:bodyPr/>
        <a:lstStyle/>
        <a:p>
          <a:endParaRPr lang="en-US"/>
        </a:p>
      </dgm:t>
    </dgm:pt>
    <dgm:pt modelId="{E482524C-AA7C-4E8D-BF05-948625E56C6D}" type="sibTrans" cxnId="{46D7682B-473A-483B-ABA5-C8543FFD91A8}">
      <dgm:prSet/>
      <dgm:spPr/>
      <dgm:t>
        <a:bodyPr/>
        <a:lstStyle/>
        <a:p>
          <a:endParaRPr lang="en-US"/>
        </a:p>
      </dgm:t>
    </dgm:pt>
    <dgm:pt modelId="{FBF36AE5-F2D4-4B5C-9D13-A424FB780112}">
      <dgm:prSet/>
      <dgm:spPr/>
      <dgm:t>
        <a:bodyPr/>
        <a:lstStyle/>
        <a:p>
          <a:r>
            <a:rPr lang="it-IT"/>
            <a:t>Se possibile, si può effettuare una presa multipla</a:t>
          </a:r>
          <a:endParaRPr lang="en-US"/>
        </a:p>
      </dgm:t>
    </dgm:pt>
    <dgm:pt modelId="{64C88707-01E2-47FC-9FCA-90F47A7D66CF}" type="parTrans" cxnId="{FBEAD476-1AB5-45A5-A949-82970A5EE25B}">
      <dgm:prSet/>
      <dgm:spPr/>
      <dgm:t>
        <a:bodyPr/>
        <a:lstStyle/>
        <a:p>
          <a:endParaRPr lang="en-US"/>
        </a:p>
      </dgm:t>
    </dgm:pt>
    <dgm:pt modelId="{5796B4A0-523D-416C-8D09-E5BD47F57E1E}" type="sibTrans" cxnId="{FBEAD476-1AB5-45A5-A949-82970A5EE25B}">
      <dgm:prSet/>
      <dgm:spPr/>
      <dgm:t>
        <a:bodyPr/>
        <a:lstStyle/>
        <a:p>
          <a:endParaRPr lang="en-US"/>
        </a:p>
      </dgm:t>
    </dgm:pt>
    <dgm:pt modelId="{2D1DC87D-1D61-4717-9632-E21F7CD92498}" type="pres">
      <dgm:prSet presAssocID="{747C238A-B58B-4DA8-943B-A30154A05395}" presName="linear" presStyleCnt="0">
        <dgm:presLayoutVars>
          <dgm:animLvl val="lvl"/>
          <dgm:resizeHandles val="exact"/>
        </dgm:presLayoutVars>
      </dgm:prSet>
      <dgm:spPr/>
    </dgm:pt>
    <dgm:pt modelId="{280DC0C1-3FF6-44D9-A915-7B43701C948B}" type="pres">
      <dgm:prSet presAssocID="{4F8F44E5-51BD-44E8-B7F2-8873E3456051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A4F3A0DE-41FB-4273-987D-F00F98BB1FC9}" type="pres">
      <dgm:prSet presAssocID="{84383D5F-DC1B-4A33-9698-E3978FE5CB30}" presName="spacer" presStyleCnt="0"/>
      <dgm:spPr/>
    </dgm:pt>
    <dgm:pt modelId="{FB55F8E1-E72C-449B-8A56-9D36DDDD96C1}" type="pres">
      <dgm:prSet presAssocID="{C0F8168A-FE1C-4709-A9B3-B2948224D035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7E1B4464-C842-4F28-8F9D-9DB0836954C0}" type="pres">
      <dgm:prSet presAssocID="{3C4ED31B-D961-421A-B5E1-12ED95EC1EFA}" presName="spacer" presStyleCnt="0"/>
      <dgm:spPr/>
    </dgm:pt>
    <dgm:pt modelId="{F4D2F4C8-DE61-4B31-B47F-B2129333AC44}" type="pres">
      <dgm:prSet presAssocID="{3D269BFB-5319-49E4-BE8F-80A820EC37F3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2E357F4D-C1DD-4066-B5D4-ACED325F91EB}" type="pres">
      <dgm:prSet presAssocID="{455FA4C9-9099-4DB9-AF21-F6B046E15CA6}" presName="spacer" presStyleCnt="0"/>
      <dgm:spPr/>
    </dgm:pt>
    <dgm:pt modelId="{C08A7343-1349-4D2E-BF85-23D995468700}" type="pres">
      <dgm:prSet presAssocID="{2AF553A0-8AFE-48FE-96CC-9271C6FC94E4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B451D290-435A-4FE6-99C9-D52848228A37}" type="pres">
      <dgm:prSet presAssocID="{E9F22B1C-0DC6-4CD8-973A-243A96A0F8FF}" presName="spacer" presStyleCnt="0"/>
      <dgm:spPr/>
    </dgm:pt>
    <dgm:pt modelId="{FB700127-415F-481F-B9A6-FAB1643331F3}" type="pres">
      <dgm:prSet presAssocID="{1A48B5BE-12B2-4507-9E55-0BBCD7896F49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C3D9FC22-5BEA-41C1-9B8A-8EE9C7A880D7}" type="pres">
      <dgm:prSet presAssocID="{E482524C-AA7C-4E8D-BF05-948625E56C6D}" presName="spacer" presStyleCnt="0"/>
      <dgm:spPr/>
    </dgm:pt>
    <dgm:pt modelId="{FC5DBEA7-0973-4AED-84A1-4C21D33DA041}" type="pres">
      <dgm:prSet presAssocID="{FBF36AE5-F2D4-4B5C-9D13-A424FB780112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E9D8E00E-EFAA-402F-B260-A0014459DF1A}" srcId="{747C238A-B58B-4DA8-943B-A30154A05395}" destId="{2AF553A0-8AFE-48FE-96CC-9271C6FC94E4}" srcOrd="3" destOrd="0" parTransId="{40D798B3-AAA9-4826-8784-5B2FE49DA0A0}" sibTransId="{E9F22B1C-0DC6-4CD8-973A-243A96A0F8FF}"/>
    <dgm:cxn modelId="{46D7682B-473A-483B-ABA5-C8543FFD91A8}" srcId="{747C238A-B58B-4DA8-943B-A30154A05395}" destId="{1A48B5BE-12B2-4507-9E55-0BBCD7896F49}" srcOrd="4" destOrd="0" parTransId="{AFA64ECB-5E53-49D3-A7A3-E3204BE0E8FE}" sibTransId="{E482524C-AA7C-4E8D-BF05-948625E56C6D}"/>
    <dgm:cxn modelId="{B4585631-196D-4C59-BE61-CBFFFA0C665A}" type="presOf" srcId="{C0F8168A-FE1C-4709-A9B3-B2948224D035}" destId="{FB55F8E1-E72C-449B-8A56-9D36DDDD96C1}" srcOrd="0" destOrd="0" presId="urn:microsoft.com/office/officeart/2005/8/layout/vList2"/>
    <dgm:cxn modelId="{F9D1986A-8FFC-4875-B4FE-A456C942E0E1}" type="presOf" srcId="{3D269BFB-5319-49E4-BE8F-80A820EC37F3}" destId="{F4D2F4C8-DE61-4B31-B47F-B2129333AC44}" srcOrd="0" destOrd="0" presId="urn:microsoft.com/office/officeart/2005/8/layout/vList2"/>
    <dgm:cxn modelId="{5224D04B-FFBE-45E3-9E44-1BB513AE82B8}" type="presOf" srcId="{2AF553A0-8AFE-48FE-96CC-9271C6FC94E4}" destId="{C08A7343-1349-4D2E-BF85-23D995468700}" srcOrd="0" destOrd="0" presId="urn:microsoft.com/office/officeart/2005/8/layout/vList2"/>
    <dgm:cxn modelId="{FBEAD476-1AB5-45A5-A949-82970A5EE25B}" srcId="{747C238A-B58B-4DA8-943B-A30154A05395}" destId="{FBF36AE5-F2D4-4B5C-9D13-A424FB780112}" srcOrd="5" destOrd="0" parTransId="{64C88707-01E2-47FC-9FCA-90F47A7D66CF}" sibTransId="{5796B4A0-523D-416C-8D09-E5BD47F57E1E}"/>
    <dgm:cxn modelId="{608C0178-66C6-4F2A-A191-8367DC846A67}" srcId="{747C238A-B58B-4DA8-943B-A30154A05395}" destId="{C0F8168A-FE1C-4709-A9B3-B2948224D035}" srcOrd="1" destOrd="0" parTransId="{F01B1ED0-843E-4C2D-840C-2D57C694557A}" sibTransId="{3C4ED31B-D961-421A-B5E1-12ED95EC1EFA}"/>
    <dgm:cxn modelId="{204333A1-1932-4FF2-BC8E-CE1B0874418D}" type="presOf" srcId="{4F8F44E5-51BD-44E8-B7F2-8873E3456051}" destId="{280DC0C1-3FF6-44D9-A915-7B43701C948B}" srcOrd="0" destOrd="0" presId="urn:microsoft.com/office/officeart/2005/8/layout/vList2"/>
    <dgm:cxn modelId="{0D09E7A4-C52D-45F3-84AA-9BC237D09D2E}" type="presOf" srcId="{1A48B5BE-12B2-4507-9E55-0BBCD7896F49}" destId="{FB700127-415F-481F-B9A6-FAB1643331F3}" srcOrd="0" destOrd="0" presId="urn:microsoft.com/office/officeart/2005/8/layout/vList2"/>
    <dgm:cxn modelId="{44AAA2AD-1952-476D-BE5B-FDADE7C78BDD}" type="presOf" srcId="{747C238A-B58B-4DA8-943B-A30154A05395}" destId="{2D1DC87D-1D61-4717-9632-E21F7CD92498}" srcOrd="0" destOrd="0" presId="urn:microsoft.com/office/officeart/2005/8/layout/vList2"/>
    <dgm:cxn modelId="{18A5E2DE-95E3-4A33-BE19-98D478A1F1EE}" type="presOf" srcId="{FBF36AE5-F2D4-4B5C-9D13-A424FB780112}" destId="{FC5DBEA7-0973-4AED-84A1-4C21D33DA041}" srcOrd="0" destOrd="0" presId="urn:microsoft.com/office/officeart/2005/8/layout/vList2"/>
    <dgm:cxn modelId="{256E7CF2-F47F-484E-B223-2186D482634E}" srcId="{747C238A-B58B-4DA8-943B-A30154A05395}" destId="{3D269BFB-5319-49E4-BE8F-80A820EC37F3}" srcOrd="2" destOrd="0" parTransId="{A8081206-17C6-4E0C-BF13-A7D133D17BAF}" sibTransId="{455FA4C9-9099-4DB9-AF21-F6B046E15CA6}"/>
    <dgm:cxn modelId="{E22AEAF9-0F8C-4B8B-9C29-CC2AE4575126}" srcId="{747C238A-B58B-4DA8-943B-A30154A05395}" destId="{4F8F44E5-51BD-44E8-B7F2-8873E3456051}" srcOrd="0" destOrd="0" parTransId="{2C92FF99-F92E-4AEF-ADB0-79CDB06E6A94}" sibTransId="{84383D5F-DC1B-4A33-9698-E3978FE5CB30}"/>
    <dgm:cxn modelId="{0E897451-EB79-4E72-A863-2080E23A4FC5}" type="presParOf" srcId="{2D1DC87D-1D61-4717-9632-E21F7CD92498}" destId="{280DC0C1-3FF6-44D9-A915-7B43701C948B}" srcOrd="0" destOrd="0" presId="urn:microsoft.com/office/officeart/2005/8/layout/vList2"/>
    <dgm:cxn modelId="{C08B8AD0-86C9-4A17-BCE0-BD34D6E89DA5}" type="presParOf" srcId="{2D1DC87D-1D61-4717-9632-E21F7CD92498}" destId="{A4F3A0DE-41FB-4273-987D-F00F98BB1FC9}" srcOrd="1" destOrd="0" presId="urn:microsoft.com/office/officeart/2005/8/layout/vList2"/>
    <dgm:cxn modelId="{CBC7A2ED-664A-4123-A753-3988BBEFC2E1}" type="presParOf" srcId="{2D1DC87D-1D61-4717-9632-E21F7CD92498}" destId="{FB55F8E1-E72C-449B-8A56-9D36DDDD96C1}" srcOrd="2" destOrd="0" presId="urn:microsoft.com/office/officeart/2005/8/layout/vList2"/>
    <dgm:cxn modelId="{64B83A8F-F317-4444-A664-728DBB0880F3}" type="presParOf" srcId="{2D1DC87D-1D61-4717-9632-E21F7CD92498}" destId="{7E1B4464-C842-4F28-8F9D-9DB0836954C0}" srcOrd="3" destOrd="0" presId="urn:microsoft.com/office/officeart/2005/8/layout/vList2"/>
    <dgm:cxn modelId="{580419EB-DFCE-4976-B3A2-58A197CAF39F}" type="presParOf" srcId="{2D1DC87D-1D61-4717-9632-E21F7CD92498}" destId="{F4D2F4C8-DE61-4B31-B47F-B2129333AC44}" srcOrd="4" destOrd="0" presId="urn:microsoft.com/office/officeart/2005/8/layout/vList2"/>
    <dgm:cxn modelId="{F18C931F-6069-48B2-8A3C-A23F5812FDA5}" type="presParOf" srcId="{2D1DC87D-1D61-4717-9632-E21F7CD92498}" destId="{2E357F4D-C1DD-4066-B5D4-ACED325F91EB}" srcOrd="5" destOrd="0" presId="urn:microsoft.com/office/officeart/2005/8/layout/vList2"/>
    <dgm:cxn modelId="{62B24690-06C1-44E6-BA3E-9A511DB704E8}" type="presParOf" srcId="{2D1DC87D-1D61-4717-9632-E21F7CD92498}" destId="{C08A7343-1349-4D2E-BF85-23D995468700}" srcOrd="6" destOrd="0" presId="urn:microsoft.com/office/officeart/2005/8/layout/vList2"/>
    <dgm:cxn modelId="{47C93C68-AF06-4CA3-9162-EE14880932C5}" type="presParOf" srcId="{2D1DC87D-1D61-4717-9632-E21F7CD92498}" destId="{B451D290-435A-4FE6-99C9-D52848228A37}" srcOrd="7" destOrd="0" presId="urn:microsoft.com/office/officeart/2005/8/layout/vList2"/>
    <dgm:cxn modelId="{62163840-923F-4915-9843-65527EC91A65}" type="presParOf" srcId="{2D1DC87D-1D61-4717-9632-E21F7CD92498}" destId="{FB700127-415F-481F-B9A6-FAB1643331F3}" srcOrd="8" destOrd="0" presId="urn:microsoft.com/office/officeart/2005/8/layout/vList2"/>
    <dgm:cxn modelId="{FEAE63D0-B22F-4955-BD3A-29E4543D6A76}" type="presParOf" srcId="{2D1DC87D-1D61-4717-9632-E21F7CD92498}" destId="{C3D9FC22-5BEA-41C1-9B8A-8EE9C7A880D7}" srcOrd="9" destOrd="0" presId="urn:microsoft.com/office/officeart/2005/8/layout/vList2"/>
    <dgm:cxn modelId="{18F56D3D-3D97-4F72-89AA-A4EDFCD57261}" type="presParOf" srcId="{2D1DC87D-1D61-4717-9632-E21F7CD92498}" destId="{FC5DBEA7-0973-4AED-84A1-4C21D33DA041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4407749-86B3-4A76-A856-5BFAFE45841E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8AC5ADBE-7E26-4512-8B1F-26D67AFE8641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1" dirty="0"/>
            <a:t>Il Nodo dell'Albero (</a:t>
          </a:r>
          <a:r>
            <a:rPr lang="it-IT" b="1" dirty="0" err="1"/>
            <a:t>MCTSNode</a:t>
          </a:r>
          <a:r>
            <a:rPr lang="it-IT" b="1" dirty="0"/>
            <a:t>)</a:t>
          </a:r>
          <a:r>
            <a:rPr lang="it-IT" dirty="0"/>
            <a:t> Ogni nodo rappresenta uno stato specifico della scacchiera e una mossa che ci ha portato a quello stato. </a:t>
          </a:r>
          <a:endParaRPr lang="en-US" dirty="0"/>
        </a:p>
      </dgm:t>
    </dgm:pt>
    <dgm:pt modelId="{971327A2-92EA-4ABE-B725-EA04B60AA230}" type="parTrans" cxnId="{32D7B84C-5C5F-49B6-A3E6-A65494BD3465}">
      <dgm:prSet/>
      <dgm:spPr/>
      <dgm:t>
        <a:bodyPr/>
        <a:lstStyle/>
        <a:p>
          <a:endParaRPr lang="en-US"/>
        </a:p>
      </dgm:t>
    </dgm:pt>
    <dgm:pt modelId="{87D66B81-9B61-47B8-838A-C12F470888DF}" type="sibTrans" cxnId="{32D7B84C-5C5F-49B6-A3E6-A65494BD346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0DF511B-CBC3-41A9-9514-5388000FE7BB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1"/>
            <a:t>Il Pool di Memoria (MemoryPool)</a:t>
          </a:r>
          <a:r>
            <a:rPr lang="it-IT"/>
            <a:t> Chiamare malloc() per ogni nuovo nodo durante la ricerca rallenterebbe drasticamente l'algoritmo. Il MemoryPool prealloca un grande array di nodi in memoria statica.</a:t>
          </a:r>
          <a:endParaRPr lang="en-US" dirty="0"/>
        </a:p>
      </dgm:t>
    </dgm:pt>
    <dgm:pt modelId="{C84CB1DF-013D-45E5-928F-F52ED7FF007A}" type="parTrans" cxnId="{EAFF35AE-6245-45C0-B826-549EB8956CE0}">
      <dgm:prSet/>
      <dgm:spPr/>
      <dgm:t>
        <a:bodyPr/>
        <a:lstStyle/>
        <a:p>
          <a:endParaRPr lang="it-IT"/>
        </a:p>
      </dgm:t>
    </dgm:pt>
    <dgm:pt modelId="{F6E14955-8F73-42F8-A3D4-C305D66A12C3}" type="sibTrans" cxnId="{EAFF35AE-6245-45C0-B826-549EB8956CE0}">
      <dgm:prSet/>
      <dgm:spPr/>
      <dgm:t>
        <a:bodyPr/>
        <a:lstStyle/>
        <a:p>
          <a:endParaRPr lang="it-IT"/>
        </a:p>
      </dgm:t>
    </dgm:pt>
    <dgm:pt modelId="{86634C44-6C8B-4912-BD46-47FF31E1F81B}" type="pres">
      <dgm:prSet presAssocID="{14407749-86B3-4A76-A856-5BFAFE45841E}" presName="root" presStyleCnt="0">
        <dgm:presLayoutVars>
          <dgm:dir/>
          <dgm:resizeHandles val="exact"/>
        </dgm:presLayoutVars>
      </dgm:prSet>
      <dgm:spPr/>
    </dgm:pt>
    <dgm:pt modelId="{CB0CEBB7-6F2C-415A-B0CA-6263C89882EE}" type="pres">
      <dgm:prSet presAssocID="{14407749-86B3-4A76-A856-5BFAFE45841E}" presName="container" presStyleCnt="0">
        <dgm:presLayoutVars>
          <dgm:dir/>
          <dgm:resizeHandles val="exact"/>
        </dgm:presLayoutVars>
      </dgm:prSet>
      <dgm:spPr/>
    </dgm:pt>
    <dgm:pt modelId="{36A7D361-16D1-4733-86C2-C7439C629CC8}" type="pres">
      <dgm:prSet presAssocID="{8AC5ADBE-7E26-4512-8B1F-26D67AFE8641}" presName="compNode" presStyleCnt="0"/>
      <dgm:spPr/>
    </dgm:pt>
    <dgm:pt modelId="{7E7B00DE-C315-4C15-A447-929F49C2A2AE}" type="pres">
      <dgm:prSet presAssocID="{8AC5ADBE-7E26-4512-8B1F-26D67AFE8641}" presName="iconBgRect" presStyleLbl="bgShp" presStyleIdx="0" presStyleCnt="2"/>
      <dgm:spPr/>
    </dgm:pt>
    <dgm:pt modelId="{6049A121-664F-48FE-8C9D-A26ECB56390E}" type="pres">
      <dgm:prSet presAssocID="{8AC5ADBE-7E26-4512-8B1F-26D67AFE8641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ss Pieces"/>
        </a:ext>
      </dgm:extLst>
    </dgm:pt>
    <dgm:pt modelId="{D9DB4EFC-2DCB-4DF3-B244-2EA5994E5A49}" type="pres">
      <dgm:prSet presAssocID="{8AC5ADBE-7E26-4512-8B1F-26D67AFE8641}" presName="spaceRect" presStyleCnt="0"/>
      <dgm:spPr/>
    </dgm:pt>
    <dgm:pt modelId="{0C6F2DB9-0123-4B86-9A75-A2253367F5B4}" type="pres">
      <dgm:prSet presAssocID="{8AC5ADBE-7E26-4512-8B1F-26D67AFE8641}" presName="textRect" presStyleLbl="revTx" presStyleIdx="0" presStyleCnt="2">
        <dgm:presLayoutVars>
          <dgm:chMax val="1"/>
          <dgm:chPref val="1"/>
        </dgm:presLayoutVars>
      </dgm:prSet>
      <dgm:spPr/>
    </dgm:pt>
    <dgm:pt modelId="{A23F2DFC-5619-48A4-BD2D-D0E8A3BFB25E}" type="pres">
      <dgm:prSet presAssocID="{87D66B81-9B61-47B8-838A-C12F470888DF}" presName="sibTrans" presStyleLbl="sibTrans2D1" presStyleIdx="0" presStyleCnt="0"/>
      <dgm:spPr/>
    </dgm:pt>
    <dgm:pt modelId="{4E3E07E3-5D18-474F-A524-AB73FE9C6F32}" type="pres">
      <dgm:prSet presAssocID="{80DF511B-CBC3-41A9-9514-5388000FE7BB}" presName="compNode" presStyleCnt="0"/>
      <dgm:spPr/>
    </dgm:pt>
    <dgm:pt modelId="{E8191924-443E-44B3-ACF1-453A6A4CACEB}" type="pres">
      <dgm:prSet presAssocID="{80DF511B-CBC3-41A9-9514-5388000FE7BB}" presName="iconBgRect" presStyleLbl="bgShp" presStyleIdx="1" presStyleCnt="2"/>
      <dgm:spPr/>
    </dgm:pt>
    <dgm:pt modelId="{14BDBFB7-E9AC-4F79-9F05-D6E82EC057B3}" type="pres">
      <dgm:prSet presAssocID="{80DF511B-CBC3-41A9-9514-5388000FE7BB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laying Cards"/>
        </a:ext>
      </dgm:extLst>
    </dgm:pt>
    <dgm:pt modelId="{6D3DD173-7914-4447-BBB0-B82B04BE6669}" type="pres">
      <dgm:prSet presAssocID="{80DF511B-CBC3-41A9-9514-5388000FE7BB}" presName="spaceRect" presStyleCnt="0"/>
      <dgm:spPr/>
    </dgm:pt>
    <dgm:pt modelId="{9E15D64D-A46E-4E29-94C0-CC70F8A64621}" type="pres">
      <dgm:prSet presAssocID="{80DF511B-CBC3-41A9-9514-5388000FE7BB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C11E1C00-9E2C-44F6-8327-8AB95E842A5F}" type="presOf" srcId="{80DF511B-CBC3-41A9-9514-5388000FE7BB}" destId="{9E15D64D-A46E-4E29-94C0-CC70F8A64621}" srcOrd="0" destOrd="0" presId="urn:microsoft.com/office/officeart/2018/2/layout/IconCircleList"/>
    <dgm:cxn modelId="{5863FD29-4728-4125-B29C-EF1E7FD053A9}" type="presOf" srcId="{87D66B81-9B61-47B8-838A-C12F470888DF}" destId="{A23F2DFC-5619-48A4-BD2D-D0E8A3BFB25E}" srcOrd="0" destOrd="0" presId="urn:microsoft.com/office/officeart/2018/2/layout/IconCircleList"/>
    <dgm:cxn modelId="{32D7B84C-5C5F-49B6-A3E6-A65494BD3465}" srcId="{14407749-86B3-4A76-A856-5BFAFE45841E}" destId="{8AC5ADBE-7E26-4512-8B1F-26D67AFE8641}" srcOrd="0" destOrd="0" parTransId="{971327A2-92EA-4ABE-B725-EA04B60AA230}" sibTransId="{87D66B81-9B61-47B8-838A-C12F470888DF}"/>
    <dgm:cxn modelId="{19C7AB97-6C03-474A-A370-FE5C70A25641}" type="presOf" srcId="{14407749-86B3-4A76-A856-5BFAFE45841E}" destId="{86634C44-6C8B-4912-BD46-47FF31E1F81B}" srcOrd="0" destOrd="0" presId="urn:microsoft.com/office/officeart/2018/2/layout/IconCircleList"/>
    <dgm:cxn modelId="{EAFF35AE-6245-45C0-B826-549EB8956CE0}" srcId="{14407749-86B3-4A76-A856-5BFAFE45841E}" destId="{80DF511B-CBC3-41A9-9514-5388000FE7BB}" srcOrd="1" destOrd="0" parTransId="{C84CB1DF-013D-45E5-928F-F52ED7FF007A}" sibTransId="{F6E14955-8F73-42F8-A3D4-C305D66A12C3}"/>
    <dgm:cxn modelId="{A71EACC0-43EB-4675-BE14-BF9A664A5E12}" type="presOf" srcId="{8AC5ADBE-7E26-4512-8B1F-26D67AFE8641}" destId="{0C6F2DB9-0123-4B86-9A75-A2253367F5B4}" srcOrd="0" destOrd="0" presId="urn:microsoft.com/office/officeart/2018/2/layout/IconCircleList"/>
    <dgm:cxn modelId="{F3494C47-B5A1-4AB6-AA0F-B12C7CD47F7B}" type="presParOf" srcId="{86634C44-6C8B-4912-BD46-47FF31E1F81B}" destId="{CB0CEBB7-6F2C-415A-B0CA-6263C89882EE}" srcOrd="0" destOrd="0" presId="urn:microsoft.com/office/officeart/2018/2/layout/IconCircleList"/>
    <dgm:cxn modelId="{E5E3A238-E6B2-493E-92D6-A50D7B65F2FA}" type="presParOf" srcId="{CB0CEBB7-6F2C-415A-B0CA-6263C89882EE}" destId="{36A7D361-16D1-4733-86C2-C7439C629CC8}" srcOrd="0" destOrd="0" presId="urn:microsoft.com/office/officeart/2018/2/layout/IconCircleList"/>
    <dgm:cxn modelId="{39BDD740-4378-4655-AD5C-68586FFEFF4F}" type="presParOf" srcId="{36A7D361-16D1-4733-86C2-C7439C629CC8}" destId="{7E7B00DE-C315-4C15-A447-929F49C2A2AE}" srcOrd="0" destOrd="0" presId="urn:microsoft.com/office/officeart/2018/2/layout/IconCircleList"/>
    <dgm:cxn modelId="{018DBA2B-8EC1-489A-A0EE-45A90CA1CB53}" type="presParOf" srcId="{36A7D361-16D1-4733-86C2-C7439C629CC8}" destId="{6049A121-664F-48FE-8C9D-A26ECB56390E}" srcOrd="1" destOrd="0" presId="urn:microsoft.com/office/officeart/2018/2/layout/IconCircleList"/>
    <dgm:cxn modelId="{415F25FD-6B23-4F66-B976-550083422D0E}" type="presParOf" srcId="{36A7D361-16D1-4733-86C2-C7439C629CC8}" destId="{D9DB4EFC-2DCB-4DF3-B244-2EA5994E5A49}" srcOrd="2" destOrd="0" presId="urn:microsoft.com/office/officeart/2018/2/layout/IconCircleList"/>
    <dgm:cxn modelId="{98308AF6-3F1F-4F0E-A3D8-063A83A0A54C}" type="presParOf" srcId="{36A7D361-16D1-4733-86C2-C7439C629CC8}" destId="{0C6F2DB9-0123-4B86-9A75-A2253367F5B4}" srcOrd="3" destOrd="0" presId="urn:microsoft.com/office/officeart/2018/2/layout/IconCircleList"/>
    <dgm:cxn modelId="{136E9B74-000D-4092-B9B8-C0723654AF66}" type="presParOf" srcId="{CB0CEBB7-6F2C-415A-B0CA-6263C89882EE}" destId="{A23F2DFC-5619-48A4-BD2D-D0E8A3BFB25E}" srcOrd="1" destOrd="0" presId="urn:microsoft.com/office/officeart/2018/2/layout/IconCircleList"/>
    <dgm:cxn modelId="{FBE30EBF-9000-4AF2-815D-49C519D86083}" type="presParOf" srcId="{CB0CEBB7-6F2C-415A-B0CA-6263C89882EE}" destId="{4E3E07E3-5D18-474F-A524-AB73FE9C6F32}" srcOrd="2" destOrd="0" presId="urn:microsoft.com/office/officeart/2018/2/layout/IconCircleList"/>
    <dgm:cxn modelId="{1E77A78F-2EA3-4633-B9F1-0A83A12E24B9}" type="presParOf" srcId="{4E3E07E3-5D18-474F-A524-AB73FE9C6F32}" destId="{E8191924-443E-44B3-ACF1-453A6A4CACEB}" srcOrd="0" destOrd="0" presId="urn:microsoft.com/office/officeart/2018/2/layout/IconCircleList"/>
    <dgm:cxn modelId="{042FCE29-3E12-40D2-83C6-2422C87DBD57}" type="presParOf" srcId="{4E3E07E3-5D18-474F-A524-AB73FE9C6F32}" destId="{14BDBFB7-E9AC-4F79-9F05-D6E82EC057B3}" srcOrd="1" destOrd="0" presId="urn:microsoft.com/office/officeart/2018/2/layout/IconCircleList"/>
    <dgm:cxn modelId="{B9A05874-59BA-48AF-A54C-D885CDA794FE}" type="presParOf" srcId="{4E3E07E3-5D18-474F-A524-AB73FE9C6F32}" destId="{6D3DD173-7914-4447-BBB0-B82B04BE6669}" srcOrd="2" destOrd="0" presId="urn:microsoft.com/office/officeart/2018/2/layout/IconCircleList"/>
    <dgm:cxn modelId="{1782A495-594E-4C80-8601-F702EA505CDA}" type="presParOf" srcId="{4E3E07E3-5D18-474F-A524-AB73FE9C6F32}" destId="{9E15D64D-A46E-4E29-94C0-CC70F8A64621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BA662A7-D6D3-463B-B9A1-0A07078EE5C9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EECAF07-6ABA-4B5C-A18A-52E56AD4DCC0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1" dirty="0"/>
            <a:t>Selezione (</a:t>
          </a:r>
          <a:r>
            <a:rPr lang="it-IT" b="1" dirty="0" err="1"/>
            <a:t>Selection</a:t>
          </a:r>
          <a:r>
            <a:rPr lang="it-IT" b="1" dirty="0"/>
            <a:t>)</a:t>
          </a:r>
          <a:r>
            <a:rPr lang="it-IT" dirty="0"/>
            <a:t> Partendo dal nodo radice (la posizione attuale), l'algoritmo scende nell'albero scegliendo il figlio "migliore" fino a raggiungere un nodo foglia</a:t>
          </a:r>
          <a:endParaRPr lang="en-US" dirty="0"/>
        </a:p>
      </dgm:t>
    </dgm:pt>
    <dgm:pt modelId="{ECBBDF01-66C8-4E0E-845A-FBD16343C563}" type="parTrans" cxnId="{2C8DC4F9-39F3-4B2B-B242-1A7A6BB4A571}">
      <dgm:prSet/>
      <dgm:spPr/>
      <dgm:t>
        <a:bodyPr/>
        <a:lstStyle/>
        <a:p>
          <a:endParaRPr lang="en-US"/>
        </a:p>
      </dgm:t>
    </dgm:pt>
    <dgm:pt modelId="{6B947515-5068-42E8-9394-D32229F6BE6E}" type="sibTrans" cxnId="{2C8DC4F9-39F3-4B2B-B242-1A7A6BB4A571}">
      <dgm:prSet/>
      <dgm:spPr/>
      <dgm:t>
        <a:bodyPr/>
        <a:lstStyle/>
        <a:p>
          <a:endParaRPr lang="en-US"/>
        </a:p>
      </dgm:t>
    </dgm:pt>
    <dgm:pt modelId="{E84E0D5F-558B-4382-8CD5-960406E527E5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1"/>
            <a:t>Espansione (Expansion)</a:t>
          </a:r>
          <a:r>
            <a:rPr lang="it-IT"/>
            <a:t> Quando la fase di selezione raggiunge un nodo foglia che ha mosse legali non ancora esplorate, il MCTS chiama la funzione </a:t>
          </a:r>
          <a:r>
            <a:rPr lang="it-IT" i="1"/>
            <a:t>generate_legal_moves()</a:t>
          </a:r>
          <a:r>
            <a:rPr lang="it-IT"/>
            <a:t>.</a:t>
          </a:r>
          <a:endParaRPr lang="en-US"/>
        </a:p>
      </dgm:t>
    </dgm:pt>
    <dgm:pt modelId="{3CB37FFC-B8E0-4D5C-BA62-27A054BA0EE0}" type="parTrans" cxnId="{191119CF-AAA7-4163-A0BB-CE4E573FD484}">
      <dgm:prSet/>
      <dgm:spPr/>
      <dgm:t>
        <a:bodyPr/>
        <a:lstStyle/>
        <a:p>
          <a:endParaRPr lang="en-US"/>
        </a:p>
      </dgm:t>
    </dgm:pt>
    <dgm:pt modelId="{2FDFC6BB-3377-4E47-9158-18790631A21E}" type="sibTrans" cxnId="{191119CF-AAA7-4163-A0BB-CE4E573FD484}">
      <dgm:prSet/>
      <dgm:spPr/>
      <dgm:t>
        <a:bodyPr/>
        <a:lstStyle/>
        <a:p>
          <a:endParaRPr lang="en-US"/>
        </a:p>
      </dgm:t>
    </dgm:pt>
    <dgm:pt modelId="{5133CB6E-2C23-429E-A144-D2736C6C7003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1"/>
            <a:t>Simulazione (Rollout / Playout)</a:t>
          </a:r>
          <a:r>
            <a:rPr lang="it-IT"/>
            <a:t> Dal nuovo nodo espanso, l'IA gioca una partita "leggera" (simulazione) fino a raggiungere uno stato finale (vittoria, sconfitta o patta).</a:t>
          </a:r>
          <a:endParaRPr lang="en-US"/>
        </a:p>
      </dgm:t>
    </dgm:pt>
    <dgm:pt modelId="{307AF3F1-5836-4263-A34F-DEF64EE46788}" type="parTrans" cxnId="{39202425-0A80-4C74-AF62-CE7231C95A31}">
      <dgm:prSet/>
      <dgm:spPr/>
      <dgm:t>
        <a:bodyPr/>
        <a:lstStyle/>
        <a:p>
          <a:endParaRPr lang="en-US"/>
        </a:p>
      </dgm:t>
    </dgm:pt>
    <dgm:pt modelId="{DEB13701-A7A3-4A6F-BEEA-1428DECA4A3E}" type="sibTrans" cxnId="{39202425-0A80-4C74-AF62-CE7231C95A31}">
      <dgm:prSet/>
      <dgm:spPr/>
      <dgm:t>
        <a:bodyPr/>
        <a:lstStyle/>
        <a:p>
          <a:endParaRPr lang="en-US"/>
        </a:p>
      </dgm:t>
    </dgm:pt>
    <dgm:pt modelId="{2BA06494-EBC6-47D1-A8B1-4461895EA38E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1"/>
            <a:t>Retropropagazione (Backpropagation)</a:t>
          </a:r>
          <a:r>
            <a:rPr lang="it-IT"/>
            <a:t> Una volta terminata la simulazione, il risultato (es. +1 se il Nero vince, -1 se vince il Bianco, 0 per patta) viene propagato all'indietro lungo il percorso dalla foglia fino alla radice, aggiornando le statistiche di ogni nodo attraversato.</a:t>
          </a:r>
          <a:endParaRPr lang="en-US"/>
        </a:p>
      </dgm:t>
    </dgm:pt>
    <dgm:pt modelId="{B5FBD2C9-DB87-46DD-8D09-D572A0026693}" type="parTrans" cxnId="{A921716B-A130-4FB2-9EB6-4780798EB5C2}">
      <dgm:prSet/>
      <dgm:spPr/>
      <dgm:t>
        <a:bodyPr/>
        <a:lstStyle/>
        <a:p>
          <a:endParaRPr lang="en-US"/>
        </a:p>
      </dgm:t>
    </dgm:pt>
    <dgm:pt modelId="{E19744C8-F6C2-456F-8807-237CD01CF5DE}" type="sibTrans" cxnId="{A921716B-A130-4FB2-9EB6-4780798EB5C2}">
      <dgm:prSet/>
      <dgm:spPr/>
      <dgm:t>
        <a:bodyPr/>
        <a:lstStyle/>
        <a:p>
          <a:endParaRPr lang="en-US"/>
        </a:p>
      </dgm:t>
    </dgm:pt>
    <dgm:pt modelId="{DA5F093B-67AE-4CDC-B6CD-40525F69861F}" type="pres">
      <dgm:prSet presAssocID="{8BA662A7-D6D3-463B-B9A1-0A07078EE5C9}" presName="root" presStyleCnt="0">
        <dgm:presLayoutVars>
          <dgm:dir/>
          <dgm:resizeHandles val="exact"/>
        </dgm:presLayoutVars>
      </dgm:prSet>
      <dgm:spPr/>
    </dgm:pt>
    <dgm:pt modelId="{F48B143E-94DC-4E27-B2E8-29B3876994E3}" type="pres">
      <dgm:prSet presAssocID="{6EECAF07-6ABA-4B5C-A18A-52E56AD4DCC0}" presName="compNode" presStyleCnt="0"/>
      <dgm:spPr/>
    </dgm:pt>
    <dgm:pt modelId="{5AF33105-6033-44F8-B731-4386FC39E1AF}" type="pres">
      <dgm:prSet presAssocID="{6EECAF07-6ABA-4B5C-A18A-52E56AD4DCC0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ircles with Lines"/>
        </a:ext>
      </dgm:extLst>
    </dgm:pt>
    <dgm:pt modelId="{B48C7278-F724-44C3-9C1C-3587A5A090DC}" type="pres">
      <dgm:prSet presAssocID="{6EECAF07-6ABA-4B5C-A18A-52E56AD4DCC0}" presName="spaceRect" presStyleCnt="0"/>
      <dgm:spPr/>
    </dgm:pt>
    <dgm:pt modelId="{82545B95-267F-4E57-9CBF-9DE315CF6E7A}" type="pres">
      <dgm:prSet presAssocID="{6EECAF07-6ABA-4B5C-A18A-52E56AD4DCC0}" presName="textRect" presStyleLbl="revTx" presStyleIdx="0" presStyleCnt="4">
        <dgm:presLayoutVars>
          <dgm:chMax val="1"/>
          <dgm:chPref val="1"/>
        </dgm:presLayoutVars>
      </dgm:prSet>
      <dgm:spPr/>
    </dgm:pt>
    <dgm:pt modelId="{E6D8095F-6C3C-4CBE-990C-784EDB69BCF7}" type="pres">
      <dgm:prSet presAssocID="{6B947515-5068-42E8-9394-D32229F6BE6E}" presName="sibTrans" presStyleCnt="0"/>
      <dgm:spPr/>
    </dgm:pt>
    <dgm:pt modelId="{B5508AA8-FD11-4FC1-BDC7-F1705935F2D7}" type="pres">
      <dgm:prSet presAssocID="{E84E0D5F-558B-4382-8CD5-960406E527E5}" presName="compNode" presStyleCnt="0"/>
      <dgm:spPr/>
    </dgm:pt>
    <dgm:pt modelId="{54F8EF98-11E0-42B7-8484-CF45DED43539}" type="pres">
      <dgm:prSet presAssocID="{E84E0D5F-558B-4382-8CD5-960406E527E5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uscle Arm"/>
        </a:ext>
      </dgm:extLst>
    </dgm:pt>
    <dgm:pt modelId="{17629FD2-56F7-4793-A6A8-106CAB33D8F4}" type="pres">
      <dgm:prSet presAssocID="{E84E0D5F-558B-4382-8CD5-960406E527E5}" presName="spaceRect" presStyleCnt="0"/>
      <dgm:spPr/>
    </dgm:pt>
    <dgm:pt modelId="{C1A06307-5DB9-4022-947A-D558F2C4A5FB}" type="pres">
      <dgm:prSet presAssocID="{E84E0D5F-558B-4382-8CD5-960406E527E5}" presName="textRect" presStyleLbl="revTx" presStyleIdx="1" presStyleCnt="4">
        <dgm:presLayoutVars>
          <dgm:chMax val="1"/>
          <dgm:chPref val="1"/>
        </dgm:presLayoutVars>
      </dgm:prSet>
      <dgm:spPr/>
    </dgm:pt>
    <dgm:pt modelId="{8560A12D-420F-47C4-956E-DEB5CB7BC7B6}" type="pres">
      <dgm:prSet presAssocID="{2FDFC6BB-3377-4E47-9158-18790631A21E}" presName="sibTrans" presStyleCnt="0"/>
      <dgm:spPr/>
    </dgm:pt>
    <dgm:pt modelId="{2558A39A-92F1-4159-9CAD-B741ACC5D18A}" type="pres">
      <dgm:prSet presAssocID="{5133CB6E-2C23-429E-A144-D2736C6C7003}" presName="compNode" presStyleCnt="0"/>
      <dgm:spPr/>
    </dgm:pt>
    <dgm:pt modelId="{8FE0552B-E631-43F6-9DD0-9362DDAA8473}" type="pres">
      <dgm:prSet presAssocID="{5133CB6E-2C23-429E-A144-D2736C6C7003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ble tennis"/>
        </a:ext>
      </dgm:extLst>
    </dgm:pt>
    <dgm:pt modelId="{548B2805-BDB5-4415-85B9-ED992219A567}" type="pres">
      <dgm:prSet presAssocID="{5133CB6E-2C23-429E-A144-D2736C6C7003}" presName="spaceRect" presStyleCnt="0"/>
      <dgm:spPr/>
    </dgm:pt>
    <dgm:pt modelId="{918F6E56-BBB9-479D-BF82-8ABD56F8F901}" type="pres">
      <dgm:prSet presAssocID="{5133CB6E-2C23-429E-A144-D2736C6C7003}" presName="textRect" presStyleLbl="revTx" presStyleIdx="2" presStyleCnt="4">
        <dgm:presLayoutVars>
          <dgm:chMax val="1"/>
          <dgm:chPref val="1"/>
        </dgm:presLayoutVars>
      </dgm:prSet>
      <dgm:spPr/>
    </dgm:pt>
    <dgm:pt modelId="{407369AA-6568-4B7B-A66E-748E887C2057}" type="pres">
      <dgm:prSet presAssocID="{DEB13701-A7A3-4A6F-BEEA-1428DECA4A3E}" presName="sibTrans" presStyleCnt="0"/>
      <dgm:spPr/>
    </dgm:pt>
    <dgm:pt modelId="{2A9D46C0-A0C7-4971-819D-D69678853E8B}" type="pres">
      <dgm:prSet presAssocID="{2BA06494-EBC6-47D1-A8B1-4461895EA38E}" presName="compNode" presStyleCnt="0"/>
      <dgm:spPr/>
    </dgm:pt>
    <dgm:pt modelId="{24029619-BFD3-438C-BCA9-6CFCB428C221}" type="pres">
      <dgm:prSet presAssocID="{2BA06494-EBC6-47D1-A8B1-4461895EA38E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Japanese Dolls"/>
        </a:ext>
      </dgm:extLst>
    </dgm:pt>
    <dgm:pt modelId="{81C50A93-8359-4DA2-95C0-73F58809D9B0}" type="pres">
      <dgm:prSet presAssocID="{2BA06494-EBC6-47D1-A8B1-4461895EA38E}" presName="spaceRect" presStyleCnt="0"/>
      <dgm:spPr/>
    </dgm:pt>
    <dgm:pt modelId="{813CA563-A190-470A-AEDD-9E206E66095E}" type="pres">
      <dgm:prSet presAssocID="{2BA06494-EBC6-47D1-A8B1-4461895EA38E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E9681519-222A-4A7D-A42B-C8CC7270A195}" type="presOf" srcId="{5133CB6E-2C23-429E-A144-D2736C6C7003}" destId="{918F6E56-BBB9-479D-BF82-8ABD56F8F901}" srcOrd="0" destOrd="0" presId="urn:microsoft.com/office/officeart/2018/2/layout/IconLabelList"/>
    <dgm:cxn modelId="{39202425-0A80-4C74-AF62-CE7231C95A31}" srcId="{8BA662A7-D6D3-463B-B9A1-0A07078EE5C9}" destId="{5133CB6E-2C23-429E-A144-D2736C6C7003}" srcOrd="2" destOrd="0" parTransId="{307AF3F1-5836-4263-A34F-DEF64EE46788}" sibTransId="{DEB13701-A7A3-4A6F-BEEA-1428DECA4A3E}"/>
    <dgm:cxn modelId="{A921716B-A130-4FB2-9EB6-4780798EB5C2}" srcId="{8BA662A7-D6D3-463B-B9A1-0A07078EE5C9}" destId="{2BA06494-EBC6-47D1-A8B1-4461895EA38E}" srcOrd="3" destOrd="0" parTransId="{B5FBD2C9-DB87-46DD-8D09-D572A0026693}" sibTransId="{E19744C8-F6C2-456F-8807-237CD01CF5DE}"/>
    <dgm:cxn modelId="{7D6B8591-1A21-40E6-918F-A7FFD75DAB65}" type="presOf" srcId="{E84E0D5F-558B-4382-8CD5-960406E527E5}" destId="{C1A06307-5DB9-4022-947A-D558F2C4A5FB}" srcOrd="0" destOrd="0" presId="urn:microsoft.com/office/officeart/2018/2/layout/IconLabelList"/>
    <dgm:cxn modelId="{8711E3A0-9BA5-4780-981E-2714B1945581}" type="presOf" srcId="{8BA662A7-D6D3-463B-B9A1-0A07078EE5C9}" destId="{DA5F093B-67AE-4CDC-B6CD-40525F69861F}" srcOrd="0" destOrd="0" presId="urn:microsoft.com/office/officeart/2018/2/layout/IconLabelList"/>
    <dgm:cxn modelId="{191119CF-AAA7-4163-A0BB-CE4E573FD484}" srcId="{8BA662A7-D6D3-463B-B9A1-0A07078EE5C9}" destId="{E84E0D5F-558B-4382-8CD5-960406E527E5}" srcOrd="1" destOrd="0" parTransId="{3CB37FFC-B8E0-4D5C-BA62-27A054BA0EE0}" sibTransId="{2FDFC6BB-3377-4E47-9158-18790631A21E}"/>
    <dgm:cxn modelId="{6C594BD4-E9BC-4948-8AEE-CCD195E9544F}" type="presOf" srcId="{6EECAF07-6ABA-4B5C-A18A-52E56AD4DCC0}" destId="{82545B95-267F-4E57-9CBF-9DE315CF6E7A}" srcOrd="0" destOrd="0" presId="urn:microsoft.com/office/officeart/2018/2/layout/IconLabelList"/>
    <dgm:cxn modelId="{6B5C1BD8-1C32-44F0-96D0-D21ADF42510C}" type="presOf" srcId="{2BA06494-EBC6-47D1-A8B1-4461895EA38E}" destId="{813CA563-A190-470A-AEDD-9E206E66095E}" srcOrd="0" destOrd="0" presId="urn:microsoft.com/office/officeart/2018/2/layout/IconLabelList"/>
    <dgm:cxn modelId="{2C8DC4F9-39F3-4B2B-B242-1A7A6BB4A571}" srcId="{8BA662A7-D6D3-463B-B9A1-0A07078EE5C9}" destId="{6EECAF07-6ABA-4B5C-A18A-52E56AD4DCC0}" srcOrd="0" destOrd="0" parTransId="{ECBBDF01-66C8-4E0E-845A-FBD16343C563}" sibTransId="{6B947515-5068-42E8-9394-D32229F6BE6E}"/>
    <dgm:cxn modelId="{DAB8A618-F507-4F1D-B43E-4D8806A384C1}" type="presParOf" srcId="{DA5F093B-67AE-4CDC-B6CD-40525F69861F}" destId="{F48B143E-94DC-4E27-B2E8-29B3876994E3}" srcOrd="0" destOrd="0" presId="urn:microsoft.com/office/officeart/2018/2/layout/IconLabelList"/>
    <dgm:cxn modelId="{3C93278D-2542-4087-80E5-3A2ABEE0E700}" type="presParOf" srcId="{F48B143E-94DC-4E27-B2E8-29B3876994E3}" destId="{5AF33105-6033-44F8-B731-4386FC39E1AF}" srcOrd="0" destOrd="0" presId="urn:microsoft.com/office/officeart/2018/2/layout/IconLabelList"/>
    <dgm:cxn modelId="{CAE9B5F5-8F15-43C4-8E85-78AC74D79FA3}" type="presParOf" srcId="{F48B143E-94DC-4E27-B2E8-29B3876994E3}" destId="{B48C7278-F724-44C3-9C1C-3587A5A090DC}" srcOrd="1" destOrd="0" presId="urn:microsoft.com/office/officeart/2018/2/layout/IconLabelList"/>
    <dgm:cxn modelId="{5B9A416F-F7AB-4539-A7EE-A45B2E9BD734}" type="presParOf" srcId="{F48B143E-94DC-4E27-B2E8-29B3876994E3}" destId="{82545B95-267F-4E57-9CBF-9DE315CF6E7A}" srcOrd="2" destOrd="0" presId="urn:microsoft.com/office/officeart/2018/2/layout/IconLabelList"/>
    <dgm:cxn modelId="{6FCEBD47-EF81-4BE4-ABEF-17B107158037}" type="presParOf" srcId="{DA5F093B-67AE-4CDC-B6CD-40525F69861F}" destId="{E6D8095F-6C3C-4CBE-990C-784EDB69BCF7}" srcOrd="1" destOrd="0" presId="urn:microsoft.com/office/officeart/2018/2/layout/IconLabelList"/>
    <dgm:cxn modelId="{9372B691-A647-4289-A949-C4E88D380C22}" type="presParOf" srcId="{DA5F093B-67AE-4CDC-B6CD-40525F69861F}" destId="{B5508AA8-FD11-4FC1-BDC7-F1705935F2D7}" srcOrd="2" destOrd="0" presId="urn:microsoft.com/office/officeart/2018/2/layout/IconLabelList"/>
    <dgm:cxn modelId="{4AF2F2A5-2E49-47FF-A0E1-1878B2E665C2}" type="presParOf" srcId="{B5508AA8-FD11-4FC1-BDC7-F1705935F2D7}" destId="{54F8EF98-11E0-42B7-8484-CF45DED43539}" srcOrd="0" destOrd="0" presId="urn:microsoft.com/office/officeart/2018/2/layout/IconLabelList"/>
    <dgm:cxn modelId="{FD187FC7-C169-441B-B7D9-0BA5D6EF66EA}" type="presParOf" srcId="{B5508AA8-FD11-4FC1-BDC7-F1705935F2D7}" destId="{17629FD2-56F7-4793-A6A8-106CAB33D8F4}" srcOrd="1" destOrd="0" presId="urn:microsoft.com/office/officeart/2018/2/layout/IconLabelList"/>
    <dgm:cxn modelId="{AEE6A2F1-2D9D-4590-8B66-3D9DAA02CCD8}" type="presParOf" srcId="{B5508AA8-FD11-4FC1-BDC7-F1705935F2D7}" destId="{C1A06307-5DB9-4022-947A-D558F2C4A5FB}" srcOrd="2" destOrd="0" presId="urn:microsoft.com/office/officeart/2018/2/layout/IconLabelList"/>
    <dgm:cxn modelId="{992AEABA-19C9-4636-A712-D4E7CD620895}" type="presParOf" srcId="{DA5F093B-67AE-4CDC-B6CD-40525F69861F}" destId="{8560A12D-420F-47C4-956E-DEB5CB7BC7B6}" srcOrd="3" destOrd="0" presId="urn:microsoft.com/office/officeart/2018/2/layout/IconLabelList"/>
    <dgm:cxn modelId="{4CFE7F34-1D21-4AB8-B069-52AC447072FF}" type="presParOf" srcId="{DA5F093B-67AE-4CDC-B6CD-40525F69861F}" destId="{2558A39A-92F1-4159-9CAD-B741ACC5D18A}" srcOrd="4" destOrd="0" presId="urn:microsoft.com/office/officeart/2018/2/layout/IconLabelList"/>
    <dgm:cxn modelId="{30548AAD-0914-4912-B593-7F30B7593D99}" type="presParOf" srcId="{2558A39A-92F1-4159-9CAD-B741ACC5D18A}" destId="{8FE0552B-E631-43F6-9DD0-9362DDAA8473}" srcOrd="0" destOrd="0" presId="urn:microsoft.com/office/officeart/2018/2/layout/IconLabelList"/>
    <dgm:cxn modelId="{E486FDC2-759A-4D65-8931-8D95F7D5B497}" type="presParOf" srcId="{2558A39A-92F1-4159-9CAD-B741ACC5D18A}" destId="{548B2805-BDB5-4415-85B9-ED992219A567}" srcOrd="1" destOrd="0" presId="urn:microsoft.com/office/officeart/2018/2/layout/IconLabelList"/>
    <dgm:cxn modelId="{5912AA2F-40CE-47DA-A685-EDB944CE54B2}" type="presParOf" srcId="{2558A39A-92F1-4159-9CAD-B741ACC5D18A}" destId="{918F6E56-BBB9-479D-BF82-8ABD56F8F901}" srcOrd="2" destOrd="0" presId="urn:microsoft.com/office/officeart/2018/2/layout/IconLabelList"/>
    <dgm:cxn modelId="{2864B997-44ED-4020-AC41-2E582C444F8C}" type="presParOf" srcId="{DA5F093B-67AE-4CDC-B6CD-40525F69861F}" destId="{407369AA-6568-4B7B-A66E-748E887C2057}" srcOrd="5" destOrd="0" presId="urn:microsoft.com/office/officeart/2018/2/layout/IconLabelList"/>
    <dgm:cxn modelId="{804BF58F-BF70-42C7-B8C4-38F4D421EABC}" type="presParOf" srcId="{DA5F093B-67AE-4CDC-B6CD-40525F69861F}" destId="{2A9D46C0-A0C7-4971-819D-D69678853E8B}" srcOrd="6" destOrd="0" presId="urn:microsoft.com/office/officeart/2018/2/layout/IconLabelList"/>
    <dgm:cxn modelId="{3EDF2F3E-00BC-4A8D-ABB1-62119C208E5D}" type="presParOf" srcId="{2A9D46C0-A0C7-4971-819D-D69678853E8B}" destId="{24029619-BFD3-438C-BCA9-6CFCB428C221}" srcOrd="0" destOrd="0" presId="urn:microsoft.com/office/officeart/2018/2/layout/IconLabelList"/>
    <dgm:cxn modelId="{5B7D9638-D64B-4FF2-B56B-F076FA16C3B4}" type="presParOf" srcId="{2A9D46C0-A0C7-4971-819D-D69678853E8B}" destId="{81C50A93-8359-4DA2-95C0-73F58809D9B0}" srcOrd="1" destOrd="0" presId="urn:microsoft.com/office/officeart/2018/2/layout/IconLabelList"/>
    <dgm:cxn modelId="{DC9FEA4E-F86C-4EBF-A851-4C8858E3E5C2}" type="presParOf" srcId="{2A9D46C0-A0C7-4971-819D-D69678853E8B}" destId="{813CA563-A190-470A-AEDD-9E206E66095E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2F99FBD-06EE-4932-915C-E91E2E7646C2}" type="doc">
      <dgm:prSet loTypeId="urn:microsoft.com/office/officeart/2005/8/layout/process4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F7366F6C-A2A8-47D3-9352-A9F6085547E9}">
      <dgm:prSet/>
      <dgm:spPr/>
      <dgm:t>
        <a:bodyPr/>
        <a:lstStyle/>
        <a:p>
          <a:r>
            <a:rPr lang="it-IT"/>
            <a:t>il MCTS è un algoritmo </a:t>
          </a:r>
          <a:r>
            <a:rPr lang="it-IT" i="1"/>
            <a:t>anytime</a:t>
          </a:r>
          <a:r>
            <a:rPr lang="it-IT"/>
            <a:t> perché non ha un "punto di arrivo" fisso Invece, ha un </a:t>
          </a:r>
          <a:r>
            <a:rPr lang="it-IT" b="1"/>
            <a:t>limite di tempo</a:t>
          </a:r>
          <a:r>
            <a:rPr lang="it-IT"/>
            <a:t> (es. aiTimeLimit = 0.5 secondi). Quando il tempo scade, l'algoritmo si ferma e restituisce la mossa migliore che ha trovato </a:t>
          </a:r>
          <a:r>
            <a:rPr lang="it-IT" i="1"/>
            <a:t>fino a quel momento</a:t>
          </a:r>
          <a:r>
            <a:rPr lang="it-IT"/>
            <a:t>.</a:t>
          </a:r>
          <a:endParaRPr lang="en-US"/>
        </a:p>
      </dgm:t>
    </dgm:pt>
    <dgm:pt modelId="{67BFE40C-F707-457D-BA36-CAAEEEA29646}" type="parTrans" cxnId="{3BC51DCA-9D09-478F-812D-7A8ABE24C17F}">
      <dgm:prSet/>
      <dgm:spPr/>
      <dgm:t>
        <a:bodyPr/>
        <a:lstStyle/>
        <a:p>
          <a:endParaRPr lang="en-US"/>
        </a:p>
      </dgm:t>
    </dgm:pt>
    <dgm:pt modelId="{463F3D87-9B44-429F-B82B-42FBD477602E}" type="sibTrans" cxnId="{3BC51DCA-9D09-478F-812D-7A8ABE24C17F}">
      <dgm:prSet/>
      <dgm:spPr/>
      <dgm:t>
        <a:bodyPr/>
        <a:lstStyle/>
        <a:p>
          <a:endParaRPr lang="en-US"/>
        </a:p>
      </dgm:t>
    </dgm:pt>
    <dgm:pt modelId="{1C7ABA62-5184-40AF-805E-9B84409BDE9E}">
      <dgm:prSet/>
      <dgm:spPr/>
      <dgm:t>
        <a:bodyPr/>
        <a:lstStyle/>
        <a:p>
          <a:r>
            <a:rPr lang="it-IT"/>
            <a:t>ANYTIME: 0.2</a:t>
          </a:r>
          <a:endParaRPr lang="en-US"/>
        </a:p>
      </dgm:t>
    </dgm:pt>
    <dgm:pt modelId="{BEBDB29C-A7A1-4DA0-91A0-3402744FE982}" type="parTrans" cxnId="{73D87BAB-65C2-452A-BCF7-862778E4F180}">
      <dgm:prSet/>
      <dgm:spPr/>
      <dgm:t>
        <a:bodyPr/>
        <a:lstStyle/>
        <a:p>
          <a:endParaRPr lang="en-US"/>
        </a:p>
      </dgm:t>
    </dgm:pt>
    <dgm:pt modelId="{DA6CF283-C744-43D0-B5EC-EA95D396EA81}" type="sibTrans" cxnId="{73D87BAB-65C2-452A-BCF7-862778E4F180}">
      <dgm:prSet/>
      <dgm:spPr/>
      <dgm:t>
        <a:bodyPr/>
        <a:lstStyle/>
        <a:p>
          <a:endParaRPr lang="en-US"/>
        </a:p>
      </dgm:t>
    </dgm:pt>
    <dgm:pt modelId="{3BCFE753-B9A5-4E17-AA89-CF72C4D3572C}">
      <dgm:prSet/>
      <dgm:spPr/>
      <dgm:t>
        <a:bodyPr/>
        <a:lstStyle/>
        <a:p>
          <a:r>
            <a:rPr lang="it-IT"/>
            <a:t>ANYTIME: 1</a:t>
          </a:r>
          <a:endParaRPr lang="en-US"/>
        </a:p>
      </dgm:t>
    </dgm:pt>
    <dgm:pt modelId="{7F2F600A-0BD8-4C21-B24A-C8BE38426818}" type="parTrans" cxnId="{D222BB6F-D97B-4206-9A39-29682E2B3F42}">
      <dgm:prSet/>
      <dgm:spPr/>
      <dgm:t>
        <a:bodyPr/>
        <a:lstStyle/>
        <a:p>
          <a:endParaRPr lang="en-US"/>
        </a:p>
      </dgm:t>
    </dgm:pt>
    <dgm:pt modelId="{5B342239-EBEE-4F75-9886-DA085AA0B66C}" type="sibTrans" cxnId="{D222BB6F-D97B-4206-9A39-29682E2B3F42}">
      <dgm:prSet/>
      <dgm:spPr/>
      <dgm:t>
        <a:bodyPr/>
        <a:lstStyle/>
        <a:p>
          <a:endParaRPr lang="en-US"/>
        </a:p>
      </dgm:t>
    </dgm:pt>
    <dgm:pt modelId="{20B19F23-A184-465B-B348-C9B368615FAA}">
      <dgm:prSet/>
      <dgm:spPr/>
      <dgm:t>
        <a:bodyPr/>
        <a:lstStyle/>
        <a:p>
          <a:r>
            <a:rPr lang="it-IT"/>
            <a:t>ANYTIME: 3</a:t>
          </a:r>
          <a:endParaRPr lang="en-US"/>
        </a:p>
      </dgm:t>
    </dgm:pt>
    <dgm:pt modelId="{5371CE0E-0DAB-4630-8B76-2321D3B2FA5D}" type="parTrans" cxnId="{133C82E4-9295-4EE7-9B2C-084DEF1C6565}">
      <dgm:prSet/>
      <dgm:spPr/>
      <dgm:t>
        <a:bodyPr/>
        <a:lstStyle/>
        <a:p>
          <a:endParaRPr lang="en-US"/>
        </a:p>
      </dgm:t>
    </dgm:pt>
    <dgm:pt modelId="{3FAD814B-B5DA-469F-ACA0-2C9E0388010D}" type="sibTrans" cxnId="{133C82E4-9295-4EE7-9B2C-084DEF1C6565}">
      <dgm:prSet/>
      <dgm:spPr/>
      <dgm:t>
        <a:bodyPr/>
        <a:lstStyle/>
        <a:p>
          <a:endParaRPr lang="en-US"/>
        </a:p>
      </dgm:t>
    </dgm:pt>
    <dgm:pt modelId="{77DC79A1-25F9-4480-8ADF-C99D0F2B9682}" type="pres">
      <dgm:prSet presAssocID="{72F99FBD-06EE-4932-915C-E91E2E7646C2}" presName="Name0" presStyleCnt="0">
        <dgm:presLayoutVars>
          <dgm:dir/>
          <dgm:animLvl val="lvl"/>
          <dgm:resizeHandles val="exact"/>
        </dgm:presLayoutVars>
      </dgm:prSet>
      <dgm:spPr/>
    </dgm:pt>
    <dgm:pt modelId="{74BC05C7-0ADD-4D93-AE03-62E5DF715945}" type="pres">
      <dgm:prSet presAssocID="{F7366F6C-A2A8-47D3-9352-A9F6085547E9}" presName="boxAndChildren" presStyleCnt="0"/>
      <dgm:spPr/>
    </dgm:pt>
    <dgm:pt modelId="{78938D7C-8F91-43CF-B98A-9050E35CF328}" type="pres">
      <dgm:prSet presAssocID="{F7366F6C-A2A8-47D3-9352-A9F6085547E9}" presName="parentTextBox" presStyleLbl="node1" presStyleIdx="0" presStyleCnt="1"/>
      <dgm:spPr/>
    </dgm:pt>
    <dgm:pt modelId="{F85E4AA1-89B9-453B-9E05-042ECF1B1DBB}" type="pres">
      <dgm:prSet presAssocID="{F7366F6C-A2A8-47D3-9352-A9F6085547E9}" presName="entireBox" presStyleLbl="node1" presStyleIdx="0" presStyleCnt="1"/>
      <dgm:spPr/>
    </dgm:pt>
    <dgm:pt modelId="{1477BC08-769E-48EB-AE62-47FDDD684357}" type="pres">
      <dgm:prSet presAssocID="{F7366F6C-A2A8-47D3-9352-A9F6085547E9}" presName="descendantBox" presStyleCnt="0"/>
      <dgm:spPr/>
    </dgm:pt>
    <dgm:pt modelId="{93D94181-1EE4-472E-984A-8E985C01BFEB}" type="pres">
      <dgm:prSet presAssocID="{1C7ABA62-5184-40AF-805E-9B84409BDE9E}" presName="childTextBox" presStyleLbl="fgAccFollowNode1" presStyleIdx="0" presStyleCnt="3">
        <dgm:presLayoutVars>
          <dgm:bulletEnabled val="1"/>
        </dgm:presLayoutVars>
      </dgm:prSet>
      <dgm:spPr/>
    </dgm:pt>
    <dgm:pt modelId="{07C7834F-310B-4A41-BD5D-92C42A287C24}" type="pres">
      <dgm:prSet presAssocID="{3BCFE753-B9A5-4E17-AA89-CF72C4D3572C}" presName="childTextBox" presStyleLbl="fgAccFollowNode1" presStyleIdx="1" presStyleCnt="3">
        <dgm:presLayoutVars>
          <dgm:bulletEnabled val="1"/>
        </dgm:presLayoutVars>
      </dgm:prSet>
      <dgm:spPr/>
    </dgm:pt>
    <dgm:pt modelId="{F2ED1812-25F3-43E7-9CFC-178C0E5CA5D1}" type="pres">
      <dgm:prSet presAssocID="{20B19F23-A184-465B-B348-C9B368615FAA}" presName="childTextBox" presStyleLbl="fgAccFollowNode1" presStyleIdx="2" presStyleCnt="3">
        <dgm:presLayoutVars>
          <dgm:bulletEnabled val="1"/>
        </dgm:presLayoutVars>
      </dgm:prSet>
      <dgm:spPr/>
    </dgm:pt>
  </dgm:ptLst>
  <dgm:cxnLst>
    <dgm:cxn modelId="{C65DC61D-550D-474F-A500-0C58230D5FBA}" type="presOf" srcId="{20B19F23-A184-465B-B348-C9B368615FAA}" destId="{F2ED1812-25F3-43E7-9CFC-178C0E5CA5D1}" srcOrd="0" destOrd="0" presId="urn:microsoft.com/office/officeart/2005/8/layout/process4"/>
    <dgm:cxn modelId="{B1A1235E-DD2E-4CC3-820D-FCB3C7102606}" type="presOf" srcId="{72F99FBD-06EE-4932-915C-E91E2E7646C2}" destId="{77DC79A1-25F9-4480-8ADF-C99D0F2B9682}" srcOrd="0" destOrd="0" presId="urn:microsoft.com/office/officeart/2005/8/layout/process4"/>
    <dgm:cxn modelId="{5E7D7668-2A81-4F94-9E6A-1ADB759AA159}" type="presOf" srcId="{3BCFE753-B9A5-4E17-AA89-CF72C4D3572C}" destId="{07C7834F-310B-4A41-BD5D-92C42A287C24}" srcOrd="0" destOrd="0" presId="urn:microsoft.com/office/officeart/2005/8/layout/process4"/>
    <dgm:cxn modelId="{D222BB6F-D97B-4206-9A39-29682E2B3F42}" srcId="{F7366F6C-A2A8-47D3-9352-A9F6085547E9}" destId="{3BCFE753-B9A5-4E17-AA89-CF72C4D3572C}" srcOrd="1" destOrd="0" parTransId="{7F2F600A-0BD8-4C21-B24A-C8BE38426818}" sibTransId="{5B342239-EBEE-4F75-9886-DA085AA0B66C}"/>
    <dgm:cxn modelId="{5BFC4D8E-B3EF-4DAC-A71A-F4A62C283C64}" type="presOf" srcId="{F7366F6C-A2A8-47D3-9352-A9F6085547E9}" destId="{F85E4AA1-89B9-453B-9E05-042ECF1B1DBB}" srcOrd="1" destOrd="0" presId="urn:microsoft.com/office/officeart/2005/8/layout/process4"/>
    <dgm:cxn modelId="{73D87BAB-65C2-452A-BCF7-862778E4F180}" srcId="{F7366F6C-A2A8-47D3-9352-A9F6085547E9}" destId="{1C7ABA62-5184-40AF-805E-9B84409BDE9E}" srcOrd="0" destOrd="0" parTransId="{BEBDB29C-A7A1-4DA0-91A0-3402744FE982}" sibTransId="{DA6CF283-C744-43D0-B5EC-EA95D396EA81}"/>
    <dgm:cxn modelId="{26CBEAB0-3431-4AA3-9924-8347B9654AEE}" type="presOf" srcId="{1C7ABA62-5184-40AF-805E-9B84409BDE9E}" destId="{93D94181-1EE4-472E-984A-8E985C01BFEB}" srcOrd="0" destOrd="0" presId="urn:microsoft.com/office/officeart/2005/8/layout/process4"/>
    <dgm:cxn modelId="{C01C8EC0-30CE-4A8A-B3E0-54BE0B530A63}" type="presOf" srcId="{F7366F6C-A2A8-47D3-9352-A9F6085547E9}" destId="{78938D7C-8F91-43CF-B98A-9050E35CF328}" srcOrd="0" destOrd="0" presId="urn:microsoft.com/office/officeart/2005/8/layout/process4"/>
    <dgm:cxn modelId="{3BC51DCA-9D09-478F-812D-7A8ABE24C17F}" srcId="{72F99FBD-06EE-4932-915C-E91E2E7646C2}" destId="{F7366F6C-A2A8-47D3-9352-A9F6085547E9}" srcOrd="0" destOrd="0" parTransId="{67BFE40C-F707-457D-BA36-CAAEEEA29646}" sibTransId="{463F3D87-9B44-429F-B82B-42FBD477602E}"/>
    <dgm:cxn modelId="{133C82E4-9295-4EE7-9B2C-084DEF1C6565}" srcId="{F7366F6C-A2A8-47D3-9352-A9F6085547E9}" destId="{20B19F23-A184-465B-B348-C9B368615FAA}" srcOrd="2" destOrd="0" parTransId="{5371CE0E-0DAB-4630-8B76-2321D3B2FA5D}" sibTransId="{3FAD814B-B5DA-469F-ACA0-2C9E0388010D}"/>
    <dgm:cxn modelId="{E1B2BC4A-174C-4443-AC1D-09F6E5E74E93}" type="presParOf" srcId="{77DC79A1-25F9-4480-8ADF-C99D0F2B9682}" destId="{74BC05C7-0ADD-4D93-AE03-62E5DF715945}" srcOrd="0" destOrd="0" presId="urn:microsoft.com/office/officeart/2005/8/layout/process4"/>
    <dgm:cxn modelId="{F7BB834D-B7B8-4092-A43E-552E5A456D45}" type="presParOf" srcId="{74BC05C7-0ADD-4D93-AE03-62E5DF715945}" destId="{78938D7C-8F91-43CF-B98A-9050E35CF328}" srcOrd="0" destOrd="0" presId="urn:microsoft.com/office/officeart/2005/8/layout/process4"/>
    <dgm:cxn modelId="{1F37D911-F31B-43C3-9207-0DEB27984101}" type="presParOf" srcId="{74BC05C7-0ADD-4D93-AE03-62E5DF715945}" destId="{F85E4AA1-89B9-453B-9E05-042ECF1B1DBB}" srcOrd="1" destOrd="0" presId="urn:microsoft.com/office/officeart/2005/8/layout/process4"/>
    <dgm:cxn modelId="{6AB2D979-3321-4572-9721-793943FB94C0}" type="presParOf" srcId="{74BC05C7-0ADD-4D93-AE03-62E5DF715945}" destId="{1477BC08-769E-48EB-AE62-47FDDD684357}" srcOrd="2" destOrd="0" presId="urn:microsoft.com/office/officeart/2005/8/layout/process4"/>
    <dgm:cxn modelId="{0B2CF137-F84D-4AD6-8620-7B7D7DFDE0C0}" type="presParOf" srcId="{1477BC08-769E-48EB-AE62-47FDDD684357}" destId="{93D94181-1EE4-472E-984A-8E985C01BFEB}" srcOrd="0" destOrd="0" presId="urn:microsoft.com/office/officeart/2005/8/layout/process4"/>
    <dgm:cxn modelId="{1FDE9252-89D6-42EE-B964-E889A04B381C}" type="presParOf" srcId="{1477BC08-769E-48EB-AE62-47FDDD684357}" destId="{07C7834F-310B-4A41-BD5D-92C42A287C24}" srcOrd="1" destOrd="0" presId="urn:microsoft.com/office/officeart/2005/8/layout/process4"/>
    <dgm:cxn modelId="{8B6C132A-2E4C-4DCD-A99E-863B3C33FBBE}" type="presParOf" srcId="{1477BC08-769E-48EB-AE62-47FDDD684357}" destId="{F2ED1812-25F3-43E7-9CFC-178C0E5CA5D1}" srcOrd="2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AEC96A9-4D67-41BF-982E-A5BF933C5FFF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D6C4F3F6-EED3-4DB2-A4B2-61BC6EEF4E6F}">
      <dgm:prSet/>
      <dgm:spPr/>
      <dgm:t>
        <a:bodyPr/>
        <a:lstStyle/>
        <a:p>
          <a:pPr>
            <a:lnSpc>
              <a:spcPct val="100000"/>
            </a:lnSpc>
          </a:pPr>
          <a:r>
            <a:rPr lang="it-IT"/>
            <a:t>Il modulo tournament.c e tournament_main.c implementa un sistema di torneo che orchestra le partite, gestisce il tabellone a eliminazione diretta e raccoglie le statistiche per produrre una classifica finale.</a:t>
          </a:r>
          <a:endParaRPr lang="en-US"/>
        </a:p>
      </dgm:t>
    </dgm:pt>
    <dgm:pt modelId="{CEE1F1EE-D6BF-433A-9363-81E636746AC7}" type="parTrans" cxnId="{14A0C909-B4EA-42CA-8DB1-DEF131682F63}">
      <dgm:prSet/>
      <dgm:spPr/>
      <dgm:t>
        <a:bodyPr/>
        <a:lstStyle/>
        <a:p>
          <a:endParaRPr lang="en-US"/>
        </a:p>
      </dgm:t>
    </dgm:pt>
    <dgm:pt modelId="{8EDCA2C3-A19C-4691-8DD6-7F7C698A4372}" type="sibTrans" cxnId="{14A0C909-B4EA-42CA-8DB1-DEF131682F63}">
      <dgm:prSet/>
      <dgm:spPr/>
      <dgm:t>
        <a:bodyPr/>
        <a:lstStyle/>
        <a:p>
          <a:endParaRPr lang="en-US"/>
        </a:p>
      </dgm:t>
    </dgm:pt>
    <dgm:pt modelId="{87223B23-4227-4F7A-9B3C-559A55B96092}">
      <dgm:prSet/>
      <dgm:spPr/>
      <dgm:t>
        <a:bodyPr/>
        <a:lstStyle/>
        <a:p>
          <a:pPr>
            <a:lnSpc>
              <a:spcPct val="100000"/>
            </a:lnSpc>
          </a:pPr>
          <a:r>
            <a:rPr lang="it-IT"/>
            <a:t>Il torneo è strutturato con 4 partite (quarti di finale), 2 partite (semifinale), 1 partita (finale) e finale terzo posto (finale-2)</a:t>
          </a:r>
          <a:endParaRPr lang="en-US"/>
        </a:p>
      </dgm:t>
    </dgm:pt>
    <dgm:pt modelId="{FA7C4FC7-ED1D-46C3-805C-95A8A1FA9D01}" type="parTrans" cxnId="{D490B870-BB63-436B-8DBF-9A50E40512A6}">
      <dgm:prSet/>
      <dgm:spPr/>
      <dgm:t>
        <a:bodyPr/>
        <a:lstStyle/>
        <a:p>
          <a:endParaRPr lang="en-US"/>
        </a:p>
      </dgm:t>
    </dgm:pt>
    <dgm:pt modelId="{A6283442-DA28-4644-BCE9-D696B6ACE712}" type="sibTrans" cxnId="{D490B870-BB63-436B-8DBF-9A50E40512A6}">
      <dgm:prSet/>
      <dgm:spPr/>
      <dgm:t>
        <a:bodyPr/>
        <a:lstStyle/>
        <a:p>
          <a:endParaRPr lang="en-US"/>
        </a:p>
      </dgm:t>
    </dgm:pt>
    <dgm:pt modelId="{EFDF2AE7-1316-4BE4-B475-573BC5C89B08}">
      <dgm:prSet/>
      <dgm:spPr/>
      <dgm:t>
        <a:bodyPr/>
        <a:lstStyle/>
        <a:p>
          <a:pPr>
            <a:lnSpc>
              <a:spcPct val="100000"/>
            </a:lnSpc>
          </a:pPr>
          <a:r>
            <a:rPr lang="it-IT"/>
            <a:t>Il </a:t>
          </a:r>
          <a:r>
            <a:rPr lang="it-IT" b="1"/>
            <a:t>Round Robin</a:t>
          </a:r>
          <a:r>
            <a:rPr lang="it-IT"/>
            <a:t>, conosciuto in Italia come </a:t>
          </a:r>
          <a:r>
            <a:rPr lang="it-IT" b="1"/>
            <a:t>"Girone all'Italiana"</a:t>
          </a:r>
          <a:r>
            <a:rPr lang="it-IT"/>
            <a:t> o girone unico, è il formato di torneo più equo, democratico e scientificamente rigoroso che esista. A differenza dell'eliminazione diretta (dove chi perde va a casa), nel Round Robin </a:t>
          </a:r>
          <a:r>
            <a:rPr lang="it-IT" b="1"/>
            <a:t>ogni partecipante deve giocare contro tutti gli altri partecipanti</a:t>
          </a:r>
          <a:r>
            <a:rPr lang="it-IT"/>
            <a:t>.</a:t>
          </a:r>
          <a:endParaRPr lang="en-US"/>
        </a:p>
      </dgm:t>
    </dgm:pt>
    <dgm:pt modelId="{588946A9-7656-4B53-A809-F7848F8D6F5A}" type="parTrans" cxnId="{3543FE4A-C684-4C64-BDF8-3BDD19F1B03A}">
      <dgm:prSet/>
      <dgm:spPr/>
      <dgm:t>
        <a:bodyPr/>
        <a:lstStyle/>
        <a:p>
          <a:endParaRPr lang="en-US"/>
        </a:p>
      </dgm:t>
    </dgm:pt>
    <dgm:pt modelId="{4B3E47A0-6E8B-497C-8174-ED42D631F769}" type="sibTrans" cxnId="{3543FE4A-C684-4C64-BDF8-3BDD19F1B03A}">
      <dgm:prSet/>
      <dgm:spPr/>
      <dgm:t>
        <a:bodyPr/>
        <a:lstStyle/>
        <a:p>
          <a:endParaRPr lang="en-US"/>
        </a:p>
      </dgm:t>
    </dgm:pt>
    <dgm:pt modelId="{906070EB-CE38-4BF5-8BF7-5E2080B41BE3}" type="pres">
      <dgm:prSet presAssocID="{CAEC96A9-4D67-41BF-982E-A5BF933C5FFF}" presName="root" presStyleCnt="0">
        <dgm:presLayoutVars>
          <dgm:dir/>
          <dgm:resizeHandles val="exact"/>
        </dgm:presLayoutVars>
      </dgm:prSet>
      <dgm:spPr/>
    </dgm:pt>
    <dgm:pt modelId="{23A37A8B-AA54-40FF-B101-969C738DB1F1}" type="pres">
      <dgm:prSet presAssocID="{D6C4F3F6-EED3-4DB2-A4B2-61BC6EEF4E6F}" presName="compNode" presStyleCnt="0"/>
      <dgm:spPr/>
    </dgm:pt>
    <dgm:pt modelId="{ED23FCE0-CFD8-495E-9EAC-CF67F5EC5A6F}" type="pres">
      <dgm:prSet presAssocID="{D6C4F3F6-EED3-4DB2-A4B2-61BC6EEF4E6F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ofeo"/>
        </a:ext>
      </dgm:extLst>
    </dgm:pt>
    <dgm:pt modelId="{4A05958F-A2D1-400E-8445-0D6F144AF8FE}" type="pres">
      <dgm:prSet presAssocID="{D6C4F3F6-EED3-4DB2-A4B2-61BC6EEF4E6F}" presName="spaceRect" presStyleCnt="0"/>
      <dgm:spPr/>
    </dgm:pt>
    <dgm:pt modelId="{E92BE552-CEB3-4558-8758-B2FB82EBBDAD}" type="pres">
      <dgm:prSet presAssocID="{D6C4F3F6-EED3-4DB2-A4B2-61BC6EEF4E6F}" presName="textRect" presStyleLbl="revTx" presStyleIdx="0" presStyleCnt="3">
        <dgm:presLayoutVars>
          <dgm:chMax val="1"/>
          <dgm:chPref val="1"/>
        </dgm:presLayoutVars>
      </dgm:prSet>
      <dgm:spPr/>
    </dgm:pt>
    <dgm:pt modelId="{45F37C2F-EC24-4F2A-9AAE-B00CE23988CF}" type="pres">
      <dgm:prSet presAssocID="{8EDCA2C3-A19C-4691-8DD6-7F7C698A4372}" presName="sibTrans" presStyleCnt="0"/>
      <dgm:spPr/>
    </dgm:pt>
    <dgm:pt modelId="{0AF8D2A3-728F-44CA-A157-6FA82A6605DC}" type="pres">
      <dgm:prSet presAssocID="{87223B23-4227-4F7A-9B3C-559A55B96092}" presName="compNode" presStyleCnt="0"/>
      <dgm:spPr/>
    </dgm:pt>
    <dgm:pt modelId="{66CF200A-E199-475A-AA96-F192CBF036B0}" type="pres">
      <dgm:prSet presAssocID="{87223B23-4227-4F7A-9B3C-559A55B96092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ss Pieces"/>
        </a:ext>
      </dgm:extLst>
    </dgm:pt>
    <dgm:pt modelId="{6EEA564A-9ABE-4045-A02A-72423F54102E}" type="pres">
      <dgm:prSet presAssocID="{87223B23-4227-4F7A-9B3C-559A55B96092}" presName="spaceRect" presStyleCnt="0"/>
      <dgm:spPr/>
    </dgm:pt>
    <dgm:pt modelId="{677547B7-D5F0-4078-ADB7-00A599FEBC8E}" type="pres">
      <dgm:prSet presAssocID="{87223B23-4227-4F7A-9B3C-559A55B96092}" presName="textRect" presStyleLbl="revTx" presStyleIdx="1" presStyleCnt="3">
        <dgm:presLayoutVars>
          <dgm:chMax val="1"/>
          <dgm:chPref val="1"/>
        </dgm:presLayoutVars>
      </dgm:prSet>
      <dgm:spPr/>
    </dgm:pt>
    <dgm:pt modelId="{B5BA596A-B440-44A5-AA5E-D0DEC34BEE0F}" type="pres">
      <dgm:prSet presAssocID="{A6283442-DA28-4644-BCE9-D696B6ACE712}" presName="sibTrans" presStyleCnt="0"/>
      <dgm:spPr/>
    </dgm:pt>
    <dgm:pt modelId="{FC27F880-6852-417C-96D0-C90B34342F87}" type="pres">
      <dgm:prSet presAssocID="{EFDF2AE7-1316-4BE4-B475-573BC5C89B08}" presName="compNode" presStyleCnt="0"/>
      <dgm:spPr/>
    </dgm:pt>
    <dgm:pt modelId="{3A72FD71-E65F-4949-B9D8-0E87CD0B2EFD}" type="pres">
      <dgm:prSet presAssocID="{EFDF2AE7-1316-4BE4-B475-573BC5C89B08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laying Cards"/>
        </a:ext>
      </dgm:extLst>
    </dgm:pt>
    <dgm:pt modelId="{6D6B27FF-3B13-436D-A9C6-0F2A7F4767B2}" type="pres">
      <dgm:prSet presAssocID="{EFDF2AE7-1316-4BE4-B475-573BC5C89B08}" presName="spaceRect" presStyleCnt="0"/>
      <dgm:spPr/>
    </dgm:pt>
    <dgm:pt modelId="{2A908CCD-B450-4B22-8174-B536AEA61293}" type="pres">
      <dgm:prSet presAssocID="{EFDF2AE7-1316-4BE4-B475-573BC5C89B08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14A0C909-B4EA-42CA-8DB1-DEF131682F63}" srcId="{CAEC96A9-4D67-41BF-982E-A5BF933C5FFF}" destId="{D6C4F3F6-EED3-4DB2-A4B2-61BC6EEF4E6F}" srcOrd="0" destOrd="0" parTransId="{CEE1F1EE-D6BF-433A-9363-81E636746AC7}" sibTransId="{8EDCA2C3-A19C-4691-8DD6-7F7C698A4372}"/>
    <dgm:cxn modelId="{247EE568-6AED-466E-8F31-46BD810A9EE7}" type="presOf" srcId="{D6C4F3F6-EED3-4DB2-A4B2-61BC6EEF4E6F}" destId="{E92BE552-CEB3-4558-8758-B2FB82EBBDAD}" srcOrd="0" destOrd="0" presId="urn:microsoft.com/office/officeart/2018/2/layout/IconLabelList"/>
    <dgm:cxn modelId="{3543FE4A-C684-4C64-BDF8-3BDD19F1B03A}" srcId="{CAEC96A9-4D67-41BF-982E-A5BF933C5FFF}" destId="{EFDF2AE7-1316-4BE4-B475-573BC5C89B08}" srcOrd="2" destOrd="0" parTransId="{588946A9-7656-4B53-A809-F7848F8D6F5A}" sibTransId="{4B3E47A0-6E8B-497C-8174-ED42D631F769}"/>
    <dgm:cxn modelId="{D490B870-BB63-436B-8DBF-9A50E40512A6}" srcId="{CAEC96A9-4D67-41BF-982E-A5BF933C5FFF}" destId="{87223B23-4227-4F7A-9B3C-559A55B96092}" srcOrd="1" destOrd="0" parTransId="{FA7C4FC7-ED1D-46C3-805C-95A8A1FA9D01}" sibTransId="{A6283442-DA28-4644-BCE9-D696B6ACE712}"/>
    <dgm:cxn modelId="{D5DBAC74-D9E3-4BC2-96E4-49B244FEAA11}" type="presOf" srcId="{CAEC96A9-4D67-41BF-982E-A5BF933C5FFF}" destId="{906070EB-CE38-4BF5-8BF7-5E2080B41BE3}" srcOrd="0" destOrd="0" presId="urn:microsoft.com/office/officeart/2018/2/layout/IconLabelList"/>
    <dgm:cxn modelId="{3F2F71D8-9195-48CB-A530-26F00F897203}" type="presOf" srcId="{87223B23-4227-4F7A-9B3C-559A55B96092}" destId="{677547B7-D5F0-4078-ADB7-00A599FEBC8E}" srcOrd="0" destOrd="0" presId="urn:microsoft.com/office/officeart/2018/2/layout/IconLabelList"/>
    <dgm:cxn modelId="{B7F014FE-F894-4C0C-A755-238234F2976A}" type="presOf" srcId="{EFDF2AE7-1316-4BE4-B475-573BC5C89B08}" destId="{2A908CCD-B450-4B22-8174-B536AEA61293}" srcOrd="0" destOrd="0" presId="urn:microsoft.com/office/officeart/2018/2/layout/IconLabelList"/>
    <dgm:cxn modelId="{58B740AE-202D-4DA6-AFBC-BFBDEA5CFBDC}" type="presParOf" srcId="{906070EB-CE38-4BF5-8BF7-5E2080B41BE3}" destId="{23A37A8B-AA54-40FF-B101-969C738DB1F1}" srcOrd="0" destOrd="0" presId="urn:microsoft.com/office/officeart/2018/2/layout/IconLabelList"/>
    <dgm:cxn modelId="{546249E4-1C7B-4F6C-918B-D26F7FFE1EBF}" type="presParOf" srcId="{23A37A8B-AA54-40FF-B101-969C738DB1F1}" destId="{ED23FCE0-CFD8-495E-9EAC-CF67F5EC5A6F}" srcOrd="0" destOrd="0" presId="urn:microsoft.com/office/officeart/2018/2/layout/IconLabelList"/>
    <dgm:cxn modelId="{6F7DB1AD-3696-4E66-9777-9EE305223132}" type="presParOf" srcId="{23A37A8B-AA54-40FF-B101-969C738DB1F1}" destId="{4A05958F-A2D1-400E-8445-0D6F144AF8FE}" srcOrd="1" destOrd="0" presId="urn:microsoft.com/office/officeart/2018/2/layout/IconLabelList"/>
    <dgm:cxn modelId="{EE162EC0-93C0-4F50-9C1A-A404B99C48A8}" type="presParOf" srcId="{23A37A8B-AA54-40FF-B101-969C738DB1F1}" destId="{E92BE552-CEB3-4558-8758-B2FB82EBBDAD}" srcOrd="2" destOrd="0" presId="urn:microsoft.com/office/officeart/2018/2/layout/IconLabelList"/>
    <dgm:cxn modelId="{D21B82C1-E954-42F5-AB50-6C96810ED95A}" type="presParOf" srcId="{906070EB-CE38-4BF5-8BF7-5E2080B41BE3}" destId="{45F37C2F-EC24-4F2A-9AAE-B00CE23988CF}" srcOrd="1" destOrd="0" presId="urn:microsoft.com/office/officeart/2018/2/layout/IconLabelList"/>
    <dgm:cxn modelId="{55A66105-D6ED-4A31-8F7C-BCDAAA06754A}" type="presParOf" srcId="{906070EB-CE38-4BF5-8BF7-5E2080B41BE3}" destId="{0AF8D2A3-728F-44CA-A157-6FA82A6605DC}" srcOrd="2" destOrd="0" presId="urn:microsoft.com/office/officeart/2018/2/layout/IconLabelList"/>
    <dgm:cxn modelId="{348F2295-0C38-4E03-BE1F-838B8DA6BEE4}" type="presParOf" srcId="{0AF8D2A3-728F-44CA-A157-6FA82A6605DC}" destId="{66CF200A-E199-475A-AA96-F192CBF036B0}" srcOrd="0" destOrd="0" presId="urn:microsoft.com/office/officeart/2018/2/layout/IconLabelList"/>
    <dgm:cxn modelId="{818FCC02-B8AC-4BAE-9530-60C403D37AAB}" type="presParOf" srcId="{0AF8D2A3-728F-44CA-A157-6FA82A6605DC}" destId="{6EEA564A-9ABE-4045-A02A-72423F54102E}" srcOrd="1" destOrd="0" presId="urn:microsoft.com/office/officeart/2018/2/layout/IconLabelList"/>
    <dgm:cxn modelId="{7158EDBF-11C4-49DB-B38D-1B1247E9B1BF}" type="presParOf" srcId="{0AF8D2A3-728F-44CA-A157-6FA82A6605DC}" destId="{677547B7-D5F0-4078-ADB7-00A599FEBC8E}" srcOrd="2" destOrd="0" presId="urn:microsoft.com/office/officeart/2018/2/layout/IconLabelList"/>
    <dgm:cxn modelId="{44582DA5-F403-49E2-A6F7-BDED461A820B}" type="presParOf" srcId="{906070EB-CE38-4BF5-8BF7-5E2080B41BE3}" destId="{B5BA596A-B440-44A5-AA5E-D0DEC34BEE0F}" srcOrd="3" destOrd="0" presId="urn:microsoft.com/office/officeart/2018/2/layout/IconLabelList"/>
    <dgm:cxn modelId="{321AF37A-C05D-4447-A03D-3D989C2A3A32}" type="presParOf" srcId="{906070EB-CE38-4BF5-8BF7-5E2080B41BE3}" destId="{FC27F880-6852-417C-96D0-C90B34342F87}" srcOrd="4" destOrd="0" presId="urn:microsoft.com/office/officeart/2018/2/layout/IconLabelList"/>
    <dgm:cxn modelId="{370C6DBB-2734-41BB-ABED-44C914C58550}" type="presParOf" srcId="{FC27F880-6852-417C-96D0-C90B34342F87}" destId="{3A72FD71-E65F-4949-B9D8-0E87CD0B2EFD}" srcOrd="0" destOrd="0" presId="urn:microsoft.com/office/officeart/2018/2/layout/IconLabelList"/>
    <dgm:cxn modelId="{D5D821BA-D705-4220-9FE0-F8870D7CA3F3}" type="presParOf" srcId="{FC27F880-6852-417C-96D0-C90B34342F87}" destId="{6D6B27FF-3B13-436D-A9C6-0F2A7F4767B2}" srcOrd="1" destOrd="0" presId="urn:microsoft.com/office/officeart/2018/2/layout/IconLabelList"/>
    <dgm:cxn modelId="{5C2E5958-427A-4E97-AF3C-39DBE00E4C91}" type="presParOf" srcId="{FC27F880-6852-417C-96D0-C90B34342F87}" destId="{2A908CCD-B450-4B22-8174-B536AEA61293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2D627F7-733D-4802-9A38-D197DFFE740B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AF32789-839A-40E5-8472-9EA531820C97}">
      <dgm:prSet>
        <dgm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it-IT" dirty="0"/>
            <a:t>Facendo sempre riferimento alla dama italiana, esistono anche regole per la terminazione della partita da rispettare:</a:t>
          </a:r>
          <a:endParaRPr lang="en-US" dirty="0"/>
        </a:p>
      </dgm:t>
    </dgm:pt>
    <dgm:pt modelId="{0E1D4D54-9A1F-4842-B2D9-902CA2CE7BD8}" type="parTrans" cxnId="{B274B050-57F5-4332-9AA5-259E7612F573}">
      <dgm:prSet/>
      <dgm:spPr/>
      <dgm:t>
        <a:bodyPr/>
        <a:lstStyle/>
        <a:p>
          <a:endParaRPr lang="en-US"/>
        </a:p>
      </dgm:t>
    </dgm:pt>
    <dgm:pt modelId="{77E9E01D-5509-40F2-9C4C-72D95C65873B}" type="sibTrans" cxnId="{B274B050-57F5-4332-9AA5-259E7612F573}">
      <dgm:prSet/>
      <dgm:spPr/>
      <dgm:t>
        <a:bodyPr/>
        <a:lstStyle/>
        <a:p>
          <a:endParaRPr lang="en-US"/>
        </a:p>
      </dgm:t>
    </dgm:pt>
    <dgm:pt modelId="{76128C7A-FAC0-470B-AC87-3C958ADDAE2E}">
      <dgm:prSet>
        <dgm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it-IT"/>
            <a:t>Un giocatore vince quando l'avversario non ha più pezzi sulla scacchiera.</a:t>
          </a:r>
          <a:endParaRPr lang="en-US"/>
        </a:p>
      </dgm:t>
    </dgm:pt>
    <dgm:pt modelId="{E2EAA927-E967-40BC-BD39-B5F68415F8AE}" type="parTrans" cxnId="{22E789EE-E7A7-4D30-97DE-A18FDF4D61AA}">
      <dgm:prSet/>
      <dgm:spPr/>
      <dgm:t>
        <a:bodyPr/>
        <a:lstStyle/>
        <a:p>
          <a:endParaRPr lang="en-US"/>
        </a:p>
      </dgm:t>
    </dgm:pt>
    <dgm:pt modelId="{0DFE463D-235F-4AFC-82C4-0B4FD1F2CF57}" type="sibTrans" cxnId="{22E789EE-E7A7-4D30-97DE-A18FDF4D61AA}">
      <dgm:prSet/>
      <dgm:spPr/>
      <dgm:t>
        <a:bodyPr/>
        <a:lstStyle/>
        <a:p>
          <a:endParaRPr lang="en-US"/>
        </a:p>
      </dgm:t>
    </dgm:pt>
    <dgm:pt modelId="{872B90C2-E85A-4C2A-9806-E47F157FA0C1}">
      <dgm:prSet>
        <dgm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it-IT" dirty="0"/>
            <a:t>Un giocatore vince quando l'avversario, pur avendo ancora pezzi, non ha nessuna mossa legale disponibile (né semplici né catture).</a:t>
          </a:r>
          <a:endParaRPr lang="en-US" dirty="0"/>
        </a:p>
      </dgm:t>
    </dgm:pt>
    <dgm:pt modelId="{42094388-F9FB-4601-9430-9C5C8B6A167F}" type="parTrans" cxnId="{DCA9B752-1D30-46F2-9DCC-61BCD7A622EA}">
      <dgm:prSet/>
      <dgm:spPr/>
      <dgm:t>
        <a:bodyPr/>
        <a:lstStyle/>
        <a:p>
          <a:endParaRPr lang="en-US"/>
        </a:p>
      </dgm:t>
    </dgm:pt>
    <dgm:pt modelId="{3B479C99-5CD5-4EEB-88E9-6791B0C1FBAF}" type="sibTrans" cxnId="{DCA9B752-1D30-46F2-9DCC-61BCD7A622EA}">
      <dgm:prSet/>
      <dgm:spPr/>
      <dgm:t>
        <a:bodyPr/>
        <a:lstStyle/>
        <a:p>
          <a:endParaRPr lang="en-US"/>
        </a:p>
      </dgm:t>
    </dgm:pt>
    <dgm:pt modelId="{27B01384-29E5-476D-B811-3D7BD91FE479}">
      <dgm:prSet>
        <dgm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it-IT" dirty="0"/>
            <a:t>Se vengono eseguite 40 mosse consecutive senza che nessuno dei giocatori catturi un pezzo, la partita è dichiarata patta </a:t>
          </a:r>
          <a:r>
            <a:rPr lang="it-IT" b="1" dirty="0" err="1"/>
            <a:t>Patta</a:t>
          </a:r>
          <a:r>
            <a:rPr lang="it-IT" b="1" dirty="0"/>
            <a:t>.</a:t>
          </a:r>
          <a:endParaRPr lang="en-US" dirty="0"/>
        </a:p>
      </dgm:t>
    </dgm:pt>
    <dgm:pt modelId="{C1C7C23B-CF0F-4EBF-85A1-3DABF0A432C1}" type="parTrans" cxnId="{62D7D017-D6F6-487D-9DA3-F33F695DF66D}">
      <dgm:prSet/>
      <dgm:spPr/>
      <dgm:t>
        <a:bodyPr/>
        <a:lstStyle/>
        <a:p>
          <a:endParaRPr lang="en-US"/>
        </a:p>
      </dgm:t>
    </dgm:pt>
    <dgm:pt modelId="{19F8F5BB-D3BE-4AB5-BCCF-FB8F85A27CBC}" type="sibTrans" cxnId="{62D7D017-D6F6-487D-9DA3-F33F695DF66D}">
      <dgm:prSet/>
      <dgm:spPr/>
      <dgm:t>
        <a:bodyPr/>
        <a:lstStyle/>
        <a:p>
          <a:endParaRPr lang="en-US"/>
        </a:p>
      </dgm:t>
    </dgm:pt>
    <dgm:pt modelId="{8B365EDB-FA10-4DB4-8DF4-BAB4D17E34BB}">
      <dgm:prSet>
        <dgm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it-IT" dirty="0"/>
            <a:t>Se la partita raggiunge 400 mosse totali (somma di tutte le mosse di entrambi i giocatori), è dichiarata patta. </a:t>
          </a:r>
          <a:r>
            <a:rPr lang="it-IT" b="1" dirty="0"/>
            <a:t>Mossa invalida</a:t>
          </a:r>
          <a:endParaRPr lang="en-US" dirty="0"/>
        </a:p>
      </dgm:t>
    </dgm:pt>
    <dgm:pt modelId="{BC14B7B4-6961-488F-B4DE-F485E1D1527E}" type="parTrans" cxnId="{42D54FBF-A11C-4590-AF68-9EF0C2C75338}">
      <dgm:prSet/>
      <dgm:spPr/>
      <dgm:t>
        <a:bodyPr/>
        <a:lstStyle/>
        <a:p>
          <a:endParaRPr lang="en-US"/>
        </a:p>
      </dgm:t>
    </dgm:pt>
    <dgm:pt modelId="{76044E36-1279-449E-B4FD-7F3A13ABFBBE}" type="sibTrans" cxnId="{42D54FBF-A11C-4590-AF68-9EF0C2C75338}">
      <dgm:prSet/>
      <dgm:spPr/>
      <dgm:t>
        <a:bodyPr/>
        <a:lstStyle/>
        <a:p>
          <a:endParaRPr lang="en-US"/>
        </a:p>
      </dgm:t>
    </dgm:pt>
    <dgm:pt modelId="{E70B1C98-2425-46AB-A0AE-2E2C1D219C1F}">
      <dgm:prSet>
        <dgm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it-IT" dirty="0"/>
            <a:t>Se un giocatore (tipicamente l'IA) restituisce una mossa invalida </a:t>
          </a:r>
          <a:r>
            <a:rPr lang="it-IT" i="1" dirty="0"/>
            <a:t>(codice speciale </a:t>
          </a:r>
          <a:r>
            <a:rPr lang="it-IT" i="1" dirty="0" err="1"/>
            <a:t>Move</a:t>
          </a:r>
          <a:r>
            <a:rPr lang="it-IT" i="1" dirty="0"/>
            <a:t>{255, 255})</a:t>
          </a:r>
          <a:r>
            <a:rPr lang="it-IT" dirty="0"/>
            <a:t>, l'avversario vince automaticamente</a:t>
          </a:r>
          <a:endParaRPr lang="en-US" dirty="0"/>
        </a:p>
      </dgm:t>
    </dgm:pt>
    <dgm:pt modelId="{C82AA576-693F-4E4C-9EB7-B287698CEE4E}" type="parTrans" cxnId="{5E1F2F63-3820-4CCF-B7B1-1C4FFBD099C0}">
      <dgm:prSet/>
      <dgm:spPr/>
      <dgm:t>
        <a:bodyPr/>
        <a:lstStyle/>
        <a:p>
          <a:endParaRPr lang="en-US"/>
        </a:p>
      </dgm:t>
    </dgm:pt>
    <dgm:pt modelId="{079E574C-9039-4995-A03F-E353F7B29781}" type="sibTrans" cxnId="{5E1F2F63-3820-4CCF-B7B1-1C4FFBD099C0}">
      <dgm:prSet/>
      <dgm:spPr/>
      <dgm:t>
        <a:bodyPr/>
        <a:lstStyle/>
        <a:p>
          <a:endParaRPr lang="en-US"/>
        </a:p>
      </dgm:t>
    </dgm:pt>
    <dgm:pt modelId="{A1DC28E2-7CC5-4026-8B45-20EA3DEA8A9E}" type="pres">
      <dgm:prSet presAssocID="{B2D627F7-733D-4802-9A38-D197DFFE740B}" presName="Name0" presStyleCnt="0">
        <dgm:presLayoutVars>
          <dgm:dir/>
          <dgm:resizeHandles val="exact"/>
        </dgm:presLayoutVars>
      </dgm:prSet>
      <dgm:spPr/>
    </dgm:pt>
    <dgm:pt modelId="{20B7067C-727A-416E-8CC8-89CFA1E569B0}" type="pres">
      <dgm:prSet presAssocID="{DAF32789-839A-40E5-8472-9EA531820C97}" presName="node" presStyleLbl="node1" presStyleIdx="0" presStyleCnt="6">
        <dgm:presLayoutVars>
          <dgm:bulletEnabled val="1"/>
        </dgm:presLayoutVars>
      </dgm:prSet>
      <dgm:spPr/>
    </dgm:pt>
    <dgm:pt modelId="{5411E058-1B2F-4992-A746-5F3609DE9D16}" type="pres">
      <dgm:prSet presAssocID="{77E9E01D-5509-40F2-9C4C-72D95C65873B}" presName="sibTrans" presStyleLbl="sibTrans1D1" presStyleIdx="0" presStyleCnt="5"/>
      <dgm:spPr/>
    </dgm:pt>
    <dgm:pt modelId="{61A04346-D1B2-4730-BC22-147CA4EF443B}" type="pres">
      <dgm:prSet presAssocID="{77E9E01D-5509-40F2-9C4C-72D95C65873B}" presName="connectorText" presStyleLbl="sibTrans1D1" presStyleIdx="0" presStyleCnt="5"/>
      <dgm:spPr/>
    </dgm:pt>
    <dgm:pt modelId="{B2A609FB-3590-4D1F-894C-F85B0927BEDA}" type="pres">
      <dgm:prSet presAssocID="{76128C7A-FAC0-470B-AC87-3C958ADDAE2E}" presName="node" presStyleLbl="node1" presStyleIdx="1" presStyleCnt="6">
        <dgm:presLayoutVars>
          <dgm:bulletEnabled val="1"/>
        </dgm:presLayoutVars>
      </dgm:prSet>
      <dgm:spPr/>
    </dgm:pt>
    <dgm:pt modelId="{DF210135-EFA2-4146-AB38-AEA4B44061A6}" type="pres">
      <dgm:prSet presAssocID="{0DFE463D-235F-4AFC-82C4-0B4FD1F2CF57}" presName="sibTrans" presStyleLbl="sibTrans1D1" presStyleIdx="1" presStyleCnt="5"/>
      <dgm:spPr/>
    </dgm:pt>
    <dgm:pt modelId="{546FF42B-48C7-43C6-AC9D-B326867CBFB1}" type="pres">
      <dgm:prSet presAssocID="{0DFE463D-235F-4AFC-82C4-0B4FD1F2CF57}" presName="connectorText" presStyleLbl="sibTrans1D1" presStyleIdx="1" presStyleCnt="5"/>
      <dgm:spPr/>
    </dgm:pt>
    <dgm:pt modelId="{F7E9F0AB-DF4D-46D7-AE18-52343471DCEE}" type="pres">
      <dgm:prSet presAssocID="{872B90C2-E85A-4C2A-9806-E47F157FA0C1}" presName="node" presStyleLbl="node1" presStyleIdx="2" presStyleCnt="6">
        <dgm:presLayoutVars>
          <dgm:bulletEnabled val="1"/>
        </dgm:presLayoutVars>
      </dgm:prSet>
      <dgm:spPr/>
    </dgm:pt>
    <dgm:pt modelId="{509DBB62-D2E8-48D2-90DE-BAE08AAB0F3F}" type="pres">
      <dgm:prSet presAssocID="{3B479C99-5CD5-4EEB-88E9-6791B0C1FBAF}" presName="sibTrans" presStyleLbl="sibTrans1D1" presStyleIdx="2" presStyleCnt="5"/>
      <dgm:spPr/>
    </dgm:pt>
    <dgm:pt modelId="{5150F825-0C76-4BB9-9AFF-034485826C1D}" type="pres">
      <dgm:prSet presAssocID="{3B479C99-5CD5-4EEB-88E9-6791B0C1FBAF}" presName="connectorText" presStyleLbl="sibTrans1D1" presStyleIdx="2" presStyleCnt="5"/>
      <dgm:spPr/>
    </dgm:pt>
    <dgm:pt modelId="{91E3604A-A676-41A6-8246-2B7D90DD0FCD}" type="pres">
      <dgm:prSet presAssocID="{27B01384-29E5-476D-B811-3D7BD91FE479}" presName="node" presStyleLbl="node1" presStyleIdx="3" presStyleCnt="6">
        <dgm:presLayoutVars>
          <dgm:bulletEnabled val="1"/>
        </dgm:presLayoutVars>
      </dgm:prSet>
      <dgm:spPr/>
    </dgm:pt>
    <dgm:pt modelId="{D12762D1-9202-493B-A2CE-92DEBF78F343}" type="pres">
      <dgm:prSet presAssocID="{19F8F5BB-D3BE-4AB5-BCCF-FB8F85A27CBC}" presName="sibTrans" presStyleLbl="sibTrans1D1" presStyleIdx="3" presStyleCnt="5"/>
      <dgm:spPr/>
    </dgm:pt>
    <dgm:pt modelId="{5265D9CA-DDFF-47C4-8BC8-14F3C737BA09}" type="pres">
      <dgm:prSet presAssocID="{19F8F5BB-D3BE-4AB5-BCCF-FB8F85A27CBC}" presName="connectorText" presStyleLbl="sibTrans1D1" presStyleIdx="3" presStyleCnt="5"/>
      <dgm:spPr/>
    </dgm:pt>
    <dgm:pt modelId="{C0F8A93B-DF2B-4144-9066-BE4E19812AD8}" type="pres">
      <dgm:prSet presAssocID="{8B365EDB-FA10-4DB4-8DF4-BAB4D17E34BB}" presName="node" presStyleLbl="node1" presStyleIdx="4" presStyleCnt="6">
        <dgm:presLayoutVars>
          <dgm:bulletEnabled val="1"/>
        </dgm:presLayoutVars>
      </dgm:prSet>
      <dgm:spPr/>
    </dgm:pt>
    <dgm:pt modelId="{71C96CE3-699C-4B78-AD3A-B50454753CA8}" type="pres">
      <dgm:prSet presAssocID="{76044E36-1279-449E-B4FD-7F3A13ABFBBE}" presName="sibTrans" presStyleLbl="sibTrans1D1" presStyleIdx="4" presStyleCnt="5"/>
      <dgm:spPr/>
    </dgm:pt>
    <dgm:pt modelId="{D4E49BF0-4493-44B3-9911-9CA48CF11704}" type="pres">
      <dgm:prSet presAssocID="{76044E36-1279-449E-B4FD-7F3A13ABFBBE}" presName="connectorText" presStyleLbl="sibTrans1D1" presStyleIdx="4" presStyleCnt="5"/>
      <dgm:spPr/>
    </dgm:pt>
    <dgm:pt modelId="{220382FC-A545-4E72-A7D5-58A5A58B082E}" type="pres">
      <dgm:prSet presAssocID="{E70B1C98-2425-46AB-A0AE-2E2C1D219C1F}" presName="node" presStyleLbl="node1" presStyleIdx="5" presStyleCnt="6">
        <dgm:presLayoutVars>
          <dgm:bulletEnabled val="1"/>
        </dgm:presLayoutVars>
      </dgm:prSet>
      <dgm:spPr/>
    </dgm:pt>
  </dgm:ptLst>
  <dgm:cxnLst>
    <dgm:cxn modelId="{3A94EE12-202F-4ECB-AB26-E9DB2485D736}" type="presOf" srcId="{77E9E01D-5509-40F2-9C4C-72D95C65873B}" destId="{61A04346-D1B2-4730-BC22-147CA4EF443B}" srcOrd="1" destOrd="0" presId="urn:microsoft.com/office/officeart/2016/7/layout/RepeatingBendingProcessNew"/>
    <dgm:cxn modelId="{F5858D16-BD9A-43E5-A3E9-61461BE7D69E}" type="presOf" srcId="{0DFE463D-235F-4AFC-82C4-0B4FD1F2CF57}" destId="{546FF42B-48C7-43C6-AC9D-B326867CBFB1}" srcOrd="1" destOrd="0" presId="urn:microsoft.com/office/officeart/2016/7/layout/RepeatingBendingProcessNew"/>
    <dgm:cxn modelId="{62D7D017-D6F6-487D-9DA3-F33F695DF66D}" srcId="{B2D627F7-733D-4802-9A38-D197DFFE740B}" destId="{27B01384-29E5-476D-B811-3D7BD91FE479}" srcOrd="3" destOrd="0" parTransId="{C1C7C23B-CF0F-4EBF-85A1-3DABF0A432C1}" sibTransId="{19F8F5BB-D3BE-4AB5-BCCF-FB8F85A27CBC}"/>
    <dgm:cxn modelId="{5E1F2F63-3820-4CCF-B7B1-1C4FFBD099C0}" srcId="{B2D627F7-733D-4802-9A38-D197DFFE740B}" destId="{E70B1C98-2425-46AB-A0AE-2E2C1D219C1F}" srcOrd="5" destOrd="0" parTransId="{C82AA576-693F-4E4C-9EB7-B287698CEE4E}" sibTransId="{079E574C-9039-4995-A03F-E353F7B29781}"/>
    <dgm:cxn modelId="{308F6649-11F1-4C3F-A5F7-EB16CC2B1FFC}" type="presOf" srcId="{3B479C99-5CD5-4EEB-88E9-6791B0C1FBAF}" destId="{509DBB62-D2E8-48D2-90DE-BAE08AAB0F3F}" srcOrd="0" destOrd="0" presId="urn:microsoft.com/office/officeart/2016/7/layout/RepeatingBendingProcessNew"/>
    <dgm:cxn modelId="{A2501B4B-F1DD-44D2-95B9-F33338BA90D3}" type="presOf" srcId="{19F8F5BB-D3BE-4AB5-BCCF-FB8F85A27CBC}" destId="{D12762D1-9202-493B-A2CE-92DEBF78F343}" srcOrd="0" destOrd="0" presId="urn:microsoft.com/office/officeart/2016/7/layout/RepeatingBendingProcessNew"/>
    <dgm:cxn modelId="{B274B050-57F5-4332-9AA5-259E7612F573}" srcId="{B2D627F7-733D-4802-9A38-D197DFFE740B}" destId="{DAF32789-839A-40E5-8472-9EA531820C97}" srcOrd="0" destOrd="0" parTransId="{0E1D4D54-9A1F-4842-B2D9-902CA2CE7BD8}" sibTransId="{77E9E01D-5509-40F2-9C4C-72D95C65873B}"/>
    <dgm:cxn modelId="{24D5D371-9B91-4BB0-9938-BC671FB34471}" type="presOf" srcId="{DAF32789-839A-40E5-8472-9EA531820C97}" destId="{20B7067C-727A-416E-8CC8-89CFA1E569B0}" srcOrd="0" destOrd="0" presId="urn:microsoft.com/office/officeart/2016/7/layout/RepeatingBendingProcessNew"/>
    <dgm:cxn modelId="{DCA9B752-1D30-46F2-9DCC-61BCD7A622EA}" srcId="{B2D627F7-733D-4802-9A38-D197DFFE740B}" destId="{872B90C2-E85A-4C2A-9806-E47F157FA0C1}" srcOrd="2" destOrd="0" parTransId="{42094388-F9FB-4601-9430-9C5C8B6A167F}" sibTransId="{3B479C99-5CD5-4EEB-88E9-6791B0C1FBAF}"/>
    <dgm:cxn modelId="{33A2C077-0C70-4387-B596-C9C80B233270}" type="presOf" srcId="{76044E36-1279-449E-B4FD-7F3A13ABFBBE}" destId="{D4E49BF0-4493-44B3-9911-9CA48CF11704}" srcOrd="1" destOrd="0" presId="urn:microsoft.com/office/officeart/2016/7/layout/RepeatingBendingProcessNew"/>
    <dgm:cxn modelId="{6FF80478-0233-4A21-9BA5-816E72F4DA5B}" type="presOf" srcId="{19F8F5BB-D3BE-4AB5-BCCF-FB8F85A27CBC}" destId="{5265D9CA-DDFF-47C4-8BC8-14F3C737BA09}" srcOrd="1" destOrd="0" presId="urn:microsoft.com/office/officeart/2016/7/layout/RepeatingBendingProcessNew"/>
    <dgm:cxn modelId="{3E89AD89-0C45-4E1D-952F-B09F7BD1D490}" type="presOf" srcId="{0DFE463D-235F-4AFC-82C4-0B4FD1F2CF57}" destId="{DF210135-EFA2-4146-AB38-AEA4B44061A6}" srcOrd="0" destOrd="0" presId="urn:microsoft.com/office/officeart/2016/7/layout/RepeatingBendingProcessNew"/>
    <dgm:cxn modelId="{BD9B65A1-5086-45D5-9711-2A89C8C28947}" type="presOf" srcId="{76128C7A-FAC0-470B-AC87-3C958ADDAE2E}" destId="{B2A609FB-3590-4D1F-894C-F85B0927BEDA}" srcOrd="0" destOrd="0" presId="urn:microsoft.com/office/officeart/2016/7/layout/RepeatingBendingProcessNew"/>
    <dgm:cxn modelId="{8EAE4DAF-7CF5-4CD2-84B4-B1F2F27BB4EA}" type="presOf" srcId="{77E9E01D-5509-40F2-9C4C-72D95C65873B}" destId="{5411E058-1B2F-4992-A746-5F3609DE9D16}" srcOrd="0" destOrd="0" presId="urn:microsoft.com/office/officeart/2016/7/layout/RepeatingBendingProcessNew"/>
    <dgm:cxn modelId="{28D0B5B2-D24F-4323-BB78-2D34725CD502}" type="presOf" srcId="{B2D627F7-733D-4802-9A38-D197DFFE740B}" destId="{A1DC28E2-7CC5-4026-8B45-20EA3DEA8A9E}" srcOrd="0" destOrd="0" presId="urn:microsoft.com/office/officeart/2016/7/layout/RepeatingBendingProcessNew"/>
    <dgm:cxn modelId="{42D54FBF-A11C-4590-AF68-9EF0C2C75338}" srcId="{B2D627F7-733D-4802-9A38-D197DFFE740B}" destId="{8B365EDB-FA10-4DB4-8DF4-BAB4D17E34BB}" srcOrd="4" destOrd="0" parTransId="{BC14B7B4-6961-488F-B4DE-F485E1D1527E}" sibTransId="{76044E36-1279-449E-B4FD-7F3A13ABFBBE}"/>
    <dgm:cxn modelId="{EC2C95CB-BF54-4443-8B3F-FA5A91F8B95F}" type="presOf" srcId="{872B90C2-E85A-4C2A-9806-E47F157FA0C1}" destId="{F7E9F0AB-DF4D-46D7-AE18-52343471DCEE}" srcOrd="0" destOrd="0" presId="urn:microsoft.com/office/officeart/2016/7/layout/RepeatingBendingProcessNew"/>
    <dgm:cxn modelId="{8450AACD-486E-40A1-966A-5BD66BF376BF}" type="presOf" srcId="{3B479C99-5CD5-4EEB-88E9-6791B0C1FBAF}" destId="{5150F825-0C76-4BB9-9AFF-034485826C1D}" srcOrd="1" destOrd="0" presId="urn:microsoft.com/office/officeart/2016/7/layout/RepeatingBendingProcessNew"/>
    <dgm:cxn modelId="{425720D0-472D-4EA6-8688-2FCB8EE8844F}" type="presOf" srcId="{27B01384-29E5-476D-B811-3D7BD91FE479}" destId="{91E3604A-A676-41A6-8246-2B7D90DD0FCD}" srcOrd="0" destOrd="0" presId="urn:microsoft.com/office/officeart/2016/7/layout/RepeatingBendingProcessNew"/>
    <dgm:cxn modelId="{B6C1BFD2-9B6D-4111-B3B5-A685135A4373}" type="presOf" srcId="{E70B1C98-2425-46AB-A0AE-2E2C1D219C1F}" destId="{220382FC-A545-4E72-A7D5-58A5A58B082E}" srcOrd="0" destOrd="0" presId="urn:microsoft.com/office/officeart/2016/7/layout/RepeatingBendingProcessNew"/>
    <dgm:cxn modelId="{576726E1-FA9F-485C-A43E-FB2671CEA136}" type="presOf" srcId="{76044E36-1279-449E-B4FD-7F3A13ABFBBE}" destId="{71C96CE3-699C-4B78-AD3A-B50454753CA8}" srcOrd="0" destOrd="0" presId="urn:microsoft.com/office/officeart/2016/7/layout/RepeatingBendingProcessNew"/>
    <dgm:cxn modelId="{0F534BE4-9D82-462C-970D-E9F717B5FA48}" type="presOf" srcId="{8B365EDB-FA10-4DB4-8DF4-BAB4D17E34BB}" destId="{C0F8A93B-DF2B-4144-9066-BE4E19812AD8}" srcOrd="0" destOrd="0" presId="urn:microsoft.com/office/officeart/2016/7/layout/RepeatingBendingProcessNew"/>
    <dgm:cxn modelId="{22E789EE-E7A7-4D30-97DE-A18FDF4D61AA}" srcId="{B2D627F7-733D-4802-9A38-D197DFFE740B}" destId="{76128C7A-FAC0-470B-AC87-3C958ADDAE2E}" srcOrd="1" destOrd="0" parTransId="{E2EAA927-E967-40BC-BD39-B5F68415F8AE}" sibTransId="{0DFE463D-235F-4AFC-82C4-0B4FD1F2CF57}"/>
    <dgm:cxn modelId="{1A16DE00-58AF-4563-9FD7-0790969BA7C2}" type="presParOf" srcId="{A1DC28E2-7CC5-4026-8B45-20EA3DEA8A9E}" destId="{20B7067C-727A-416E-8CC8-89CFA1E569B0}" srcOrd="0" destOrd="0" presId="urn:microsoft.com/office/officeart/2016/7/layout/RepeatingBendingProcessNew"/>
    <dgm:cxn modelId="{F23F38A7-2900-4EA5-89F0-BDB3971581B6}" type="presParOf" srcId="{A1DC28E2-7CC5-4026-8B45-20EA3DEA8A9E}" destId="{5411E058-1B2F-4992-A746-5F3609DE9D16}" srcOrd="1" destOrd="0" presId="urn:microsoft.com/office/officeart/2016/7/layout/RepeatingBendingProcessNew"/>
    <dgm:cxn modelId="{112838C6-FCCB-4EA1-A5BB-67FFD2C20730}" type="presParOf" srcId="{5411E058-1B2F-4992-A746-5F3609DE9D16}" destId="{61A04346-D1B2-4730-BC22-147CA4EF443B}" srcOrd="0" destOrd="0" presId="urn:microsoft.com/office/officeart/2016/7/layout/RepeatingBendingProcessNew"/>
    <dgm:cxn modelId="{D0EF9662-83EA-4FF8-8DA5-6157B38AA5AC}" type="presParOf" srcId="{A1DC28E2-7CC5-4026-8B45-20EA3DEA8A9E}" destId="{B2A609FB-3590-4D1F-894C-F85B0927BEDA}" srcOrd="2" destOrd="0" presId="urn:microsoft.com/office/officeart/2016/7/layout/RepeatingBendingProcessNew"/>
    <dgm:cxn modelId="{22D2A099-9512-46CE-B828-EB474ACB1E63}" type="presParOf" srcId="{A1DC28E2-7CC5-4026-8B45-20EA3DEA8A9E}" destId="{DF210135-EFA2-4146-AB38-AEA4B44061A6}" srcOrd="3" destOrd="0" presId="urn:microsoft.com/office/officeart/2016/7/layout/RepeatingBendingProcessNew"/>
    <dgm:cxn modelId="{CD052F05-7FE0-4515-94A8-70372E6536D2}" type="presParOf" srcId="{DF210135-EFA2-4146-AB38-AEA4B44061A6}" destId="{546FF42B-48C7-43C6-AC9D-B326867CBFB1}" srcOrd="0" destOrd="0" presId="urn:microsoft.com/office/officeart/2016/7/layout/RepeatingBendingProcessNew"/>
    <dgm:cxn modelId="{36070B5E-3D4D-495D-BA4D-8FC17739B90D}" type="presParOf" srcId="{A1DC28E2-7CC5-4026-8B45-20EA3DEA8A9E}" destId="{F7E9F0AB-DF4D-46D7-AE18-52343471DCEE}" srcOrd="4" destOrd="0" presId="urn:microsoft.com/office/officeart/2016/7/layout/RepeatingBendingProcessNew"/>
    <dgm:cxn modelId="{7B2D8DAB-C38A-45AD-AD68-F3AFD258D253}" type="presParOf" srcId="{A1DC28E2-7CC5-4026-8B45-20EA3DEA8A9E}" destId="{509DBB62-D2E8-48D2-90DE-BAE08AAB0F3F}" srcOrd="5" destOrd="0" presId="urn:microsoft.com/office/officeart/2016/7/layout/RepeatingBendingProcessNew"/>
    <dgm:cxn modelId="{2B95A671-BA44-4C03-BE90-82F4A0EF61C6}" type="presParOf" srcId="{509DBB62-D2E8-48D2-90DE-BAE08AAB0F3F}" destId="{5150F825-0C76-4BB9-9AFF-034485826C1D}" srcOrd="0" destOrd="0" presId="urn:microsoft.com/office/officeart/2016/7/layout/RepeatingBendingProcessNew"/>
    <dgm:cxn modelId="{48379765-61CC-418F-A72A-224C8F7C95E4}" type="presParOf" srcId="{A1DC28E2-7CC5-4026-8B45-20EA3DEA8A9E}" destId="{91E3604A-A676-41A6-8246-2B7D90DD0FCD}" srcOrd="6" destOrd="0" presId="urn:microsoft.com/office/officeart/2016/7/layout/RepeatingBendingProcessNew"/>
    <dgm:cxn modelId="{BB6E65AC-F8F4-41CD-9997-D8BE2815CFB2}" type="presParOf" srcId="{A1DC28E2-7CC5-4026-8B45-20EA3DEA8A9E}" destId="{D12762D1-9202-493B-A2CE-92DEBF78F343}" srcOrd="7" destOrd="0" presId="urn:microsoft.com/office/officeart/2016/7/layout/RepeatingBendingProcessNew"/>
    <dgm:cxn modelId="{443C8AD0-0F45-48BB-9105-8EBBAD7B790F}" type="presParOf" srcId="{D12762D1-9202-493B-A2CE-92DEBF78F343}" destId="{5265D9CA-DDFF-47C4-8BC8-14F3C737BA09}" srcOrd="0" destOrd="0" presId="urn:microsoft.com/office/officeart/2016/7/layout/RepeatingBendingProcessNew"/>
    <dgm:cxn modelId="{AD8D5EBF-D5F3-4C41-A71B-6AB84C1A73FD}" type="presParOf" srcId="{A1DC28E2-7CC5-4026-8B45-20EA3DEA8A9E}" destId="{C0F8A93B-DF2B-4144-9066-BE4E19812AD8}" srcOrd="8" destOrd="0" presId="urn:microsoft.com/office/officeart/2016/7/layout/RepeatingBendingProcessNew"/>
    <dgm:cxn modelId="{89B65ED1-6038-46DA-8A38-930021A53679}" type="presParOf" srcId="{A1DC28E2-7CC5-4026-8B45-20EA3DEA8A9E}" destId="{71C96CE3-699C-4B78-AD3A-B50454753CA8}" srcOrd="9" destOrd="0" presId="urn:microsoft.com/office/officeart/2016/7/layout/RepeatingBendingProcessNew"/>
    <dgm:cxn modelId="{95B4DF33-A395-4DF8-8AAD-AB5B8C501352}" type="presParOf" srcId="{71C96CE3-699C-4B78-AD3A-B50454753CA8}" destId="{D4E49BF0-4493-44B3-9911-9CA48CF11704}" srcOrd="0" destOrd="0" presId="urn:microsoft.com/office/officeart/2016/7/layout/RepeatingBendingProcessNew"/>
    <dgm:cxn modelId="{0854B2E0-6F85-422D-B3CB-B24AB97B3C1F}" type="presParOf" srcId="{A1DC28E2-7CC5-4026-8B45-20EA3DEA8A9E}" destId="{220382FC-A545-4E72-A7D5-58A5A58B082E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0DC0C1-3FF6-44D9-A915-7B43701C948B}">
      <dsp:nvSpPr>
        <dsp:cNvPr id="0" name=""/>
        <dsp:cNvSpPr/>
      </dsp:nvSpPr>
      <dsp:spPr>
        <a:xfrm>
          <a:off x="0" y="824803"/>
          <a:ext cx="6949440" cy="65110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kern="1200"/>
            <a:t>Muoversi solo in diagonale e solo verso l’altro lato della tavola</a:t>
          </a:r>
          <a:endParaRPr lang="en-US" sz="1600" kern="1200"/>
        </a:p>
      </dsp:txBody>
      <dsp:txXfrm>
        <a:off x="31784" y="856587"/>
        <a:ext cx="6885872" cy="587537"/>
      </dsp:txXfrm>
    </dsp:sp>
    <dsp:sp modelId="{FB55F8E1-E72C-449B-8A56-9D36DDDD96C1}">
      <dsp:nvSpPr>
        <dsp:cNvPr id="0" name=""/>
        <dsp:cNvSpPr/>
      </dsp:nvSpPr>
      <dsp:spPr>
        <a:xfrm>
          <a:off x="0" y="1521988"/>
          <a:ext cx="6949440" cy="651105"/>
        </a:xfrm>
        <a:prstGeom prst="roundRect">
          <a:avLst/>
        </a:prstGeom>
        <a:solidFill>
          <a:schemeClr val="accent5">
            <a:hueOff val="1822866"/>
            <a:satOff val="-821"/>
            <a:lumOff val="-101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kern="1200"/>
            <a:t>Mangiare solo in caso in cui nel raggio di movimento è presente una pedina avversaria, seguita da una cella vuota (OBBLIGO DI MANGIARE)</a:t>
          </a:r>
          <a:endParaRPr lang="en-US" sz="1600" kern="1200"/>
        </a:p>
      </dsp:txBody>
      <dsp:txXfrm>
        <a:off x="31784" y="1553772"/>
        <a:ext cx="6885872" cy="587537"/>
      </dsp:txXfrm>
    </dsp:sp>
    <dsp:sp modelId="{F4D2F4C8-DE61-4B31-B47F-B2129333AC44}">
      <dsp:nvSpPr>
        <dsp:cNvPr id="0" name=""/>
        <dsp:cNvSpPr/>
      </dsp:nvSpPr>
      <dsp:spPr>
        <a:xfrm>
          <a:off x="0" y="2219173"/>
          <a:ext cx="6949440" cy="651105"/>
        </a:xfrm>
        <a:prstGeom prst="roundRect">
          <a:avLst/>
        </a:prstGeom>
        <a:solidFill>
          <a:schemeClr val="accent5">
            <a:hueOff val="3645731"/>
            <a:satOff val="-1642"/>
            <a:lumOff val="-203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kern="1200"/>
            <a:t>La pedina diventa una DAMA solo se raggiunge l’altro lato della tavola</a:t>
          </a:r>
          <a:endParaRPr lang="en-US" sz="1600" kern="1200"/>
        </a:p>
      </dsp:txBody>
      <dsp:txXfrm>
        <a:off x="31784" y="2250957"/>
        <a:ext cx="6885872" cy="587537"/>
      </dsp:txXfrm>
    </dsp:sp>
    <dsp:sp modelId="{C08A7343-1349-4D2E-BF85-23D995468700}">
      <dsp:nvSpPr>
        <dsp:cNvPr id="0" name=""/>
        <dsp:cNvSpPr/>
      </dsp:nvSpPr>
      <dsp:spPr>
        <a:xfrm>
          <a:off x="0" y="2916358"/>
          <a:ext cx="6949440" cy="651105"/>
        </a:xfrm>
        <a:prstGeom prst="roundRect">
          <a:avLst/>
        </a:prstGeom>
        <a:solidFill>
          <a:schemeClr val="accent5">
            <a:hueOff val="5468597"/>
            <a:satOff val="-2462"/>
            <a:lumOff val="-305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kern="1200"/>
            <a:t>La dama può muoversi e mangiare in tutte le direzioni (PRIORITA’ ALLA DAMA)</a:t>
          </a:r>
          <a:endParaRPr lang="en-US" sz="1600" kern="1200"/>
        </a:p>
      </dsp:txBody>
      <dsp:txXfrm>
        <a:off x="31784" y="2948142"/>
        <a:ext cx="6885872" cy="587537"/>
      </dsp:txXfrm>
    </dsp:sp>
    <dsp:sp modelId="{FB700127-415F-481F-B9A6-FAB1643331F3}">
      <dsp:nvSpPr>
        <dsp:cNvPr id="0" name=""/>
        <dsp:cNvSpPr/>
      </dsp:nvSpPr>
      <dsp:spPr>
        <a:xfrm>
          <a:off x="0" y="3613543"/>
          <a:ext cx="6949440" cy="651105"/>
        </a:xfrm>
        <a:prstGeom prst="roundRect">
          <a:avLst/>
        </a:prstGeom>
        <a:solidFill>
          <a:schemeClr val="accent5">
            <a:hueOff val="7291462"/>
            <a:satOff val="-3283"/>
            <a:lumOff val="-407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kern="1200"/>
            <a:t>Una pedina normale non può mangiare una dama</a:t>
          </a:r>
          <a:endParaRPr lang="en-US" sz="1600" kern="1200"/>
        </a:p>
      </dsp:txBody>
      <dsp:txXfrm>
        <a:off x="31784" y="3645327"/>
        <a:ext cx="6885872" cy="587537"/>
      </dsp:txXfrm>
    </dsp:sp>
    <dsp:sp modelId="{FC5DBEA7-0973-4AED-84A1-4C21D33DA041}">
      <dsp:nvSpPr>
        <dsp:cNvPr id="0" name=""/>
        <dsp:cNvSpPr/>
      </dsp:nvSpPr>
      <dsp:spPr>
        <a:xfrm>
          <a:off x="0" y="4310728"/>
          <a:ext cx="6949440" cy="651105"/>
        </a:xfrm>
        <a:prstGeom prst="roundRect">
          <a:avLst/>
        </a:prstGeom>
        <a:solidFill>
          <a:schemeClr val="accent5">
            <a:hueOff val="9114327"/>
            <a:satOff val="-4104"/>
            <a:lumOff val="-509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kern="1200"/>
            <a:t>Se possibile, si può effettuare una presa multipla</a:t>
          </a:r>
          <a:endParaRPr lang="en-US" sz="1600" kern="1200"/>
        </a:p>
      </dsp:txBody>
      <dsp:txXfrm>
        <a:off x="31784" y="4342512"/>
        <a:ext cx="6885872" cy="58753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7B00DE-C315-4C15-A447-929F49C2A2AE}">
      <dsp:nvSpPr>
        <dsp:cNvPr id="0" name=""/>
        <dsp:cNvSpPr/>
      </dsp:nvSpPr>
      <dsp:spPr>
        <a:xfrm>
          <a:off x="285138" y="1180797"/>
          <a:ext cx="1373490" cy="137349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49A121-664F-48FE-8C9D-A26ECB56390E}">
      <dsp:nvSpPr>
        <dsp:cNvPr id="0" name=""/>
        <dsp:cNvSpPr/>
      </dsp:nvSpPr>
      <dsp:spPr>
        <a:xfrm>
          <a:off x="573571" y="1469230"/>
          <a:ext cx="796624" cy="79662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6F2DB9-0123-4B86-9A75-A2253367F5B4}">
      <dsp:nvSpPr>
        <dsp:cNvPr id="0" name=""/>
        <dsp:cNvSpPr/>
      </dsp:nvSpPr>
      <dsp:spPr>
        <a:xfrm>
          <a:off x="1952948" y="1180797"/>
          <a:ext cx="3237513" cy="1373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b="1" kern="1200" dirty="0"/>
            <a:t>Il Nodo dell'Albero (</a:t>
          </a:r>
          <a:r>
            <a:rPr lang="it-IT" sz="1400" b="1" kern="1200" dirty="0" err="1"/>
            <a:t>MCTSNode</a:t>
          </a:r>
          <a:r>
            <a:rPr lang="it-IT" sz="1400" b="1" kern="1200" dirty="0"/>
            <a:t>)</a:t>
          </a:r>
          <a:r>
            <a:rPr lang="it-IT" sz="1400" kern="1200" dirty="0"/>
            <a:t> Ogni nodo rappresenta uno stato specifico della scacchiera e una mossa che ci ha portato a quello stato. </a:t>
          </a:r>
          <a:endParaRPr lang="en-US" sz="1400" kern="1200" dirty="0"/>
        </a:p>
      </dsp:txBody>
      <dsp:txXfrm>
        <a:off x="1952948" y="1180797"/>
        <a:ext cx="3237513" cy="1373490"/>
      </dsp:txXfrm>
    </dsp:sp>
    <dsp:sp modelId="{E8191924-443E-44B3-ACF1-453A6A4CACEB}">
      <dsp:nvSpPr>
        <dsp:cNvPr id="0" name=""/>
        <dsp:cNvSpPr/>
      </dsp:nvSpPr>
      <dsp:spPr>
        <a:xfrm>
          <a:off x="5754574" y="1180797"/>
          <a:ext cx="1373490" cy="137349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BDBFB7-E9AC-4F79-9F05-D6E82EC057B3}">
      <dsp:nvSpPr>
        <dsp:cNvPr id="0" name=""/>
        <dsp:cNvSpPr/>
      </dsp:nvSpPr>
      <dsp:spPr>
        <a:xfrm>
          <a:off x="6043007" y="1469230"/>
          <a:ext cx="796624" cy="79662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15D64D-A46E-4E29-94C0-CC70F8A64621}">
      <dsp:nvSpPr>
        <dsp:cNvPr id="0" name=""/>
        <dsp:cNvSpPr/>
      </dsp:nvSpPr>
      <dsp:spPr>
        <a:xfrm>
          <a:off x="7422384" y="1180797"/>
          <a:ext cx="3237513" cy="1373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b="1" kern="1200"/>
            <a:t>Il Pool di Memoria (MemoryPool)</a:t>
          </a:r>
          <a:r>
            <a:rPr lang="it-IT" sz="1400" kern="1200"/>
            <a:t> Chiamare malloc() per ogni nuovo nodo durante la ricerca rallenterebbe drasticamente l'algoritmo. Il MemoryPool prealloca un grande array di nodi in memoria statica.</a:t>
          </a:r>
          <a:endParaRPr lang="en-US" sz="1400" kern="1200" dirty="0"/>
        </a:p>
      </dsp:txBody>
      <dsp:txXfrm>
        <a:off x="7422384" y="1180797"/>
        <a:ext cx="3237513" cy="137349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F33105-6033-44F8-B731-4386FC39E1AF}">
      <dsp:nvSpPr>
        <dsp:cNvPr id="0" name=""/>
        <dsp:cNvSpPr/>
      </dsp:nvSpPr>
      <dsp:spPr>
        <a:xfrm>
          <a:off x="649508" y="730714"/>
          <a:ext cx="1059006" cy="105900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545B95-267F-4E57-9CBF-9DE315CF6E7A}">
      <dsp:nvSpPr>
        <dsp:cNvPr id="0" name=""/>
        <dsp:cNvSpPr/>
      </dsp:nvSpPr>
      <dsp:spPr>
        <a:xfrm>
          <a:off x="2338" y="2259988"/>
          <a:ext cx="2353348" cy="1603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b="1" kern="1200" dirty="0"/>
            <a:t>Selezione (</a:t>
          </a:r>
          <a:r>
            <a:rPr lang="it-IT" sz="1100" b="1" kern="1200" dirty="0" err="1"/>
            <a:t>Selection</a:t>
          </a:r>
          <a:r>
            <a:rPr lang="it-IT" sz="1100" b="1" kern="1200" dirty="0"/>
            <a:t>)</a:t>
          </a:r>
          <a:r>
            <a:rPr lang="it-IT" sz="1100" kern="1200" dirty="0"/>
            <a:t> Partendo dal nodo radice (la posizione attuale), l'algoritmo scende nell'albero scegliendo il figlio "migliore" fino a raggiungere un nodo foglia</a:t>
          </a:r>
          <a:endParaRPr lang="en-US" sz="1100" kern="1200" dirty="0"/>
        </a:p>
      </dsp:txBody>
      <dsp:txXfrm>
        <a:off x="2338" y="2259988"/>
        <a:ext cx="2353348" cy="1603125"/>
      </dsp:txXfrm>
    </dsp:sp>
    <dsp:sp modelId="{54F8EF98-11E0-42B7-8484-CF45DED43539}">
      <dsp:nvSpPr>
        <dsp:cNvPr id="0" name=""/>
        <dsp:cNvSpPr/>
      </dsp:nvSpPr>
      <dsp:spPr>
        <a:xfrm>
          <a:off x="3414693" y="730714"/>
          <a:ext cx="1059006" cy="105900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A06307-5DB9-4022-947A-D558F2C4A5FB}">
      <dsp:nvSpPr>
        <dsp:cNvPr id="0" name=""/>
        <dsp:cNvSpPr/>
      </dsp:nvSpPr>
      <dsp:spPr>
        <a:xfrm>
          <a:off x="2767522" y="2259988"/>
          <a:ext cx="2353348" cy="1603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b="1" kern="1200"/>
            <a:t>Espansione (Expansion)</a:t>
          </a:r>
          <a:r>
            <a:rPr lang="it-IT" sz="1100" kern="1200"/>
            <a:t> Quando la fase di selezione raggiunge un nodo foglia che ha mosse legali non ancora esplorate, il MCTS chiama la funzione </a:t>
          </a:r>
          <a:r>
            <a:rPr lang="it-IT" sz="1100" i="1" kern="1200"/>
            <a:t>generate_legal_moves()</a:t>
          </a:r>
          <a:r>
            <a:rPr lang="it-IT" sz="1100" kern="1200"/>
            <a:t>.</a:t>
          </a:r>
          <a:endParaRPr lang="en-US" sz="1100" kern="1200"/>
        </a:p>
      </dsp:txBody>
      <dsp:txXfrm>
        <a:off x="2767522" y="2259988"/>
        <a:ext cx="2353348" cy="1603125"/>
      </dsp:txXfrm>
    </dsp:sp>
    <dsp:sp modelId="{8FE0552B-E631-43F6-9DD0-9362DDAA8473}">
      <dsp:nvSpPr>
        <dsp:cNvPr id="0" name=""/>
        <dsp:cNvSpPr/>
      </dsp:nvSpPr>
      <dsp:spPr>
        <a:xfrm>
          <a:off x="6179878" y="730714"/>
          <a:ext cx="1059006" cy="105900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8F6E56-BBB9-479D-BF82-8ABD56F8F901}">
      <dsp:nvSpPr>
        <dsp:cNvPr id="0" name=""/>
        <dsp:cNvSpPr/>
      </dsp:nvSpPr>
      <dsp:spPr>
        <a:xfrm>
          <a:off x="5532707" y="2259988"/>
          <a:ext cx="2353348" cy="1603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b="1" kern="1200"/>
            <a:t>Simulazione (Rollout / Playout)</a:t>
          </a:r>
          <a:r>
            <a:rPr lang="it-IT" sz="1100" kern="1200"/>
            <a:t> Dal nuovo nodo espanso, l'IA gioca una partita "leggera" (simulazione) fino a raggiungere uno stato finale (vittoria, sconfitta o patta).</a:t>
          </a:r>
          <a:endParaRPr lang="en-US" sz="1100" kern="1200"/>
        </a:p>
      </dsp:txBody>
      <dsp:txXfrm>
        <a:off x="5532707" y="2259988"/>
        <a:ext cx="2353348" cy="1603125"/>
      </dsp:txXfrm>
    </dsp:sp>
    <dsp:sp modelId="{24029619-BFD3-438C-BCA9-6CFCB428C221}">
      <dsp:nvSpPr>
        <dsp:cNvPr id="0" name=""/>
        <dsp:cNvSpPr/>
      </dsp:nvSpPr>
      <dsp:spPr>
        <a:xfrm>
          <a:off x="8945063" y="730714"/>
          <a:ext cx="1059006" cy="105900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3CA563-A190-470A-AEDD-9E206E66095E}">
      <dsp:nvSpPr>
        <dsp:cNvPr id="0" name=""/>
        <dsp:cNvSpPr/>
      </dsp:nvSpPr>
      <dsp:spPr>
        <a:xfrm>
          <a:off x="8297892" y="2259988"/>
          <a:ext cx="2353348" cy="1603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b="1" kern="1200"/>
            <a:t>Retropropagazione (Backpropagation)</a:t>
          </a:r>
          <a:r>
            <a:rPr lang="it-IT" sz="1100" kern="1200"/>
            <a:t> Una volta terminata la simulazione, il risultato (es. +1 se il Nero vince, -1 se vince il Bianco, 0 per patta) viene propagato all'indietro lungo il percorso dalla foglia fino alla radice, aggiornando le statistiche di ogni nodo attraversato.</a:t>
          </a:r>
          <a:endParaRPr lang="en-US" sz="1100" kern="1200"/>
        </a:p>
      </dsp:txBody>
      <dsp:txXfrm>
        <a:off x="8297892" y="2259988"/>
        <a:ext cx="2353348" cy="160312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5E4AA1-89B9-453B-9E05-042ECF1B1DBB}">
      <dsp:nvSpPr>
        <dsp:cNvPr id="0" name=""/>
        <dsp:cNvSpPr/>
      </dsp:nvSpPr>
      <dsp:spPr>
        <a:xfrm>
          <a:off x="0" y="0"/>
          <a:ext cx="6949440" cy="578663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92024" rIns="192024" bIns="192024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700" kern="1200"/>
            <a:t>il MCTS è un algoritmo </a:t>
          </a:r>
          <a:r>
            <a:rPr lang="it-IT" sz="2700" i="1" kern="1200"/>
            <a:t>anytime</a:t>
          </a:r>
          <a:r>
            <a:rPr lang="it-IT" sz="2700" kern="1200"/>
            <a:t> perché non ha un "punto di arrivo" fisso Invece, ha un </a:t>
          </a:r>
          <a:r>
            <a:rPr lang="it-IT" sz="2700" b="1" kern="1200"/>
            <a:t>limite di tempo</a:t>
          </a:r>
          <a:r>
            <a:rPr lang="it-IT" sz="2700" kern="1200"/>
            <a:t> (es. aiTimeLimit = 0.5 secondi). Quando il tempo scade, l'algoritmo si ferma e restituisce la mossa migliore che ha trovato </a:t>
          </a:r>
          <a:r>
            <a:rPr lang="it-IT" sz="2700" i="1" kern="1200"/>
            <a:t>fino a quel momento</a:t>
          </a:r>
          <a:r>
            <a:rPr lang="it-IT" sz="2700" kern="1200"/>
            <a:t>.</a:t>
          </a:r>
          <a:endParaRPr lang="en-US" sz="2700" kern="1200"/>
        </a:p>
      </dsp:txBody>
      <dsp:txXfrm>
        <a:off x="0" y="0"/>
        <a:ext cx="6949440" cy="3124783"/>
      </dsp:txXfrm>
    </dsp:sp>
    <dsp:sp modelId="{93D94181-1EE4-472E-984A-8E985C01BFEB}">
      <dsp:nvSpPr>
        <dsp:cNvPr id="0" name=""/>
        <dsp:cNvSpPr/>
      </dsp:nvSpPr>
      <dsp:spPr>
        <a:xfrm>
          <a:off x="3393" y="3009051"/>
          <a:ext cx="2314217" cy="2661853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3360" tIns="38100" rIns="21336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000" kern="1200"/>
            <a:t>ANYTIME: 0.2</a:t>
          </a:r>
          <a:endParaRPr lang="en-US" sz="3000" kern="1200"/>
        </a:p>
      </dsp:txBody>
      <dsp:txXfrm>
        <a:off x="3393" y="3009051"/>
        <a:ext cx="2314217" cy="2661853"/>
      </dsp:txXfrm>
    </dsp:sp>
    <dsp:sp modelId="{07C7834F-310B-4A41-BD5D-92C42A287C24}">
      <dsp:nvSpPr>
        <dsp:cNvPr id="0" name=""/>
        <dsp:cNvSpPr/>
      </dsp:nvSpPr>
      <dsp:spPr>
        <a:xfrm>
          <a:off x="2317611" y="3009051"/>
          <a:ext cx="2314217" cy="2661853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3360" tIns="38100" rIns="21336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000" kern="1200"/>
            <a:t>ANYTIME: 1</a:t>
          </a:r>
          <a:endParaRPr lang="en-US" sz="3000" kern="1200"/>
        </a:p>
      </dsp:txBody>
      <dsp:txXfrm>
        <a:off x="2317611" y="3009051"/>
        <a:ext cx="2314217" cy="2661853"/>
      </dsp:txXfrm>
    </dsp:sp>
    <dsp:sp modelId="{F2ED1812-25F3-43E7-9CFC-178C0E5CA5D1}">
      <dsp:nvSpPr>
        <dsp:cNvPr id="0" name=""/>
        <dsp:cNvSpPr/>
      </dsp:nvSpPr>
      <dsp:spPr>
        <a:xfrm>
          <a:off x="4631828" y="3009051"/>
          <a:ext cx="2314217" cy="2661853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3360" tIns="38100" rIns="21336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000" kern="1200"/>
            <a:t>ANYTIME: 3</a:t>
          </a:r>
          <a:endParaRPr lang="en-US" sz="3000" kern="1200"/>
        </a:p>
      </dsp:txBody>
      <dsp:txXfrm>
        <a:off x="4631828" y="3009051"/>
        <a:ext cx="2314217" cy="266185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23FCE0-CFD8-495E-9EAC-CF67F5EC5A6F}">
      <dsp:nvSpPr>
        <dsp:cNvPr id="0" name=""/>
        <dsp:cNvSpPr/>
      </dsp:nvSpPr>
      <dsp:spPr>
        <a:xfrm>
          <a:off x="381401" y="176837"/>
          <a:ext cx="620156" cy="62015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2BE552-CEB3-4558-8758-B2FB82EBBDAD}">
      <dsp:nvSpPr>
        <dsp:cNvPr id="0" name=""/>
        <dsp:cNvSpPr/>
      </dsp:nvSpPr>
      <dsp:spPr>
        <a:xfrm>
          <a:off x="2417" y="1217803"/>
          <a:ext cx="1378124" cy="17643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kern="1200"/>
            <a:t>Il modulo tournament.c e tournament_main.c implementa un sistema di torneo che orchestra le partite, gestisce il tabellone a eliminazione diretta e raccoglie le statistiche per produrre una classifica finale.</a:t>
          </a:r>
          <a:endParaRPr lang="en-US" sz="1100" kern="1200"/>
        </a:p>
      </dsp:txBody>
      <dsp:txXfrm>
        <a:off x="2417" y="1217803"/>
        <a:ext cx="1378124" cy="1764376"/>
      </dsp:txXfrm>
    </dsp:sp>
    <dsp:sp modelId="{66CF200A-E199-475A-AA96-F192CBF036B0}">
      <dsp:nvSpPr>
        <dsp:cNvPr id="0" name=""/>
        <dsp:cNvSpPr/>
      </dsp:nvSpPr>
      <dsp:spPr>
        <a:xfrm>
          <a:off x="2000698" y="176837"/>
          <a:ext cx="620156" cy="62015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7547B7-D5F0-4078-ADB7-00A599FEBC8E}">
      <dsp:nvSpPr>
        <dsp:cNvPr id="0" name=""/>
        <dsp:cNvSpPr/>
      </dsp:nvSpPr>
      <dsp:spPr>
        <a:xfrm>
          <a:off x="1621714" y="1217803"/>
          <a:ext cx="1378124" cy="17643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kern="1200"/>
            <a:t>Il torneo è strutturato con 4 partite (quarti di finale), 2 partite (semifinale), 1 partita (finale) e finale terzo posto (finale-2)</a:t>
          </a:r>
          <a:endParaRPr lang="en-US" sz="1100" kern="1200"/>
        </a:p>
      </dsp:txBody>
      <dsp:txXfrm>
        <a:off x="1621714" y="1217803"/>
        <a:ext cx="1378124" cy="1764376"/>
      </dsp:txXfrm>
    </dsp:sp>
    <dsp:sp modelId="{3A72FD71-E65F-4949-B9D8-0E87CD0B2EFD}">
      <dsp:nvSpPr>
        <dsp:cNvPr id="0" name=""/>
        <dsp:cNvSpPr/>
      </dsp:nvSpPr>
      <dsp:spPr>
        <a:xfrm>
          <a:off x="3619995" y="176837"/>
          <a:ext cx="620156" cy="62015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908CCD-B450-4B22-8174-B536AEA61293}">
      <dsp:nvSpPr>
        <dsp:cNvPr id="0" name=""/>
        <dsp:cNvSpPr/>
      </dsp:nvSpPr>
      <dsp:spPr>
        <a:xfrm>
          <a:off x="3241010" y="1217803"/>
          <a:ext cx="1378124" cy="17643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kern="1200"/>
            <a:t>Il </a:t>
          </a:r>
          <a:r>
            <a:rPr lang="it-IT" sz="1100" b="1" kern="1200"/>
            <a:t>Round Robin</a:t>
          </a:r>
          <a:r>
            <a:rPr lang="it-IT" sz="1100" kern="1200"/>
            <a:t>, conosciuto in Italia come </a:t>
          </a:r>
          <a:r>
            <a:rPr lang="it-IT" sz="1100" b="1" kern="1200"/>
            <a:t>"Girone all'Italiana"</a:t>
          </a:r>
          <a:r>
            <a:rPr lang="it-IT" sz="1100" kern="1200"/>
            <a:t> o girone unico, è il formato di torneo più equo, democratico e scientificamente rigoroso che esista. A differenza dell'eliminazione diretta (dove chi perde va a casa), nel Round Robin </a:t>
          </a:r>
          <a:r>
            <a:rPr lang="it-IT" sz="1100" b="1" kern="1200"/>
            <a:t>ogni partecipante deve giocare contro tutti gli altri partecipanti</a:t>
          </a:r>
          <a:r>
            <a:rPr lang="it-IT" sz="1100" kern="1200"/>
            <a:t>.</a:t>
          </a:r>
          <a:endParaRPr lang="en-US" sz="1100" kern="1200"/>
        </a:p>
      </dsp:txBody>
      <dsp:txXfrm>
        <a:off x="3241010" y="1217803"/>
        <a:ext cx="1378124" cy="176437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11E058-1B2F-4992-A746-5F3609DE9D16}">
      <dsp:nvSpPr>
        <dsp:cNvPr id="0" name=""/>
        <dsp:cNvSpPr/>
      </dsp:nvSpPr>
      <dsp:spPr>
        <a:xfrm>
          <a:off x="3080715" y="975339"/>
          <a:ext cx="67650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76500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401287" y="1017523"/>
        <a:ext cx="35355" cy="7071"/>
      </dsp:txXfrm>
    </dsp:sp>
    <dsp:sp modelId="{20B7067C-727A-416E-8CC8-89CFA1E569B0}">
      <dsp:nvSpPr>
        <dsp:cNvPr id="0" name=""/>
        <dsp:cNvSpPr/>
      </dsp:nvSpPr>
      <dsp:spPr>
        <a:xfrm>
          <a:off x="8167" y="98755"/>
          <a:ext cx="3074348" cy="1844608"/>
        </a:xfrm>
        <a:prstGeom prst="rect">
          <a:avLst/>
        </a:prstGeom>
        <a:solidFill>
          <a:schemeClr val="accent5"/>
        </a:solidFill>
        <a:ln w="1905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5"/>
        </a:fillRef>
        <a:effectRef idx="1">
          <a:schemeClr val="accent5"/>
        </a:effectRef>
        <a:fontRef idx="minor">
          <a:schemeClr val="lt1"/>
        </a:fontRef>
      </dsp:style>
      <dsp:txBody>
        <a:bodyPr spcFirstLastPara="0" vert="horz" wrap="square" lIns="150646" tIns="158129" rIns="150646" bIns="158129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kern="1200" dirty="0"/>
            <a:t>Facendo sempre riferimento alla dama italiana, esistono anche regole per la terminazione della partita da rispettare:</a:t>
          </a:r>
          <a:endParaRPr lang="en-US" sz="1700" kern="1200" dirty="0"/>
        </a:p>
      </dsp:txBody>
      <dsp:txXfrm>
        <a:off x="8167" y="98755"/>
        <a:ext cx="3074348" cy="1844608"/>
      </dsp:txXfrm>
    </dsp:sp>
    <dsp:sp modelId="{DF210135-EFA2-4146-AB38-AEA4B44061A6}">
      <dsp:nvSpPr>
        <dsp:cNvPr id="0" name=""/>
        <dsp:cNvSpPr/>
      </dsp:nvSpPr>
      <dsp:spPr>
        <a:xfrm>
          <a:off x="6862163" y="975339"/>
          <a:ext cx="67650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76500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182736" y="1017523"/>
        <a:ext cx="35355" cy="7071"/>
      </dsp:txXfrm>
    </dsp:sp>
    <dsp:sp modelId="{B2A609FB-3590-4D1F-894C-F85B0927BEDA}">
      <dsp:nvSpPr>
        <dsp:cNvPr id="0" name=""/>
        <dsp:cNvSpPr/>
      </dsp:nvSpPr>
      <dsp:spPr>
        <a:xfrm>
          <a:off x="3789615" y="98755"/>
          <a:ext cx="3074348" cy="1844608"/>
        </a:xfrm>
        <a:prstGeom prst="rect">
          <a:avLst/>
        </a:prstGeom>
        <a:solidFill>
          <a:schemeClr val="accent3"/>
        </a:solidFill>
        <a:ln w="1905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3"/>
        </a:fillRef>
        <a:effectRef idx="1">
          <a:schemeClr val="accent3"/>
        </a:effectRef>
        <a:fontRef idx="minor">
          <a:schemeClr val="lt1"/>
        </a:fontRef>
      </dsp:style>
      <dsp:txBody>
        <a:bodyPr spcFirstLastPara="0" vert="horz" wrap="square" lIns="150646" tIns="158129" rIns="150646" bIns="158129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kern="1200"/>
            <a:t>Un giocatore vince quando l'avversario non ha più pezzi sulla scacchiera.</a:t>
          </a:r>
          <a:endParaRPr lang="en-US" sz="1700" kern="1200"/>
        </a:p>
      </dsp:txBody>
      <dsp:txXfrm>
        <a:off x="3789615" y="98755"/>
        <a:ext cx="3074348" cy="1844608"/>
      </dsp:txXfrm>
    </dsp:sp>
    <dsp:sp modelId="{509DBB62-D2E8-48D2-90DE-BAE08AAB0F3F}">
      <dsp:nvSpPr>
        <dsp:cNvPr id="0" name=""/>
        <dsp:cNvSpPr/>
      </dsp:nvSpPr>
      <dsp:spPr>
        <a:xfrm>
          <a:off x="1545341" y="1941563"/>
          <a:ext cx="7562896" cy="676500"/>
        </a:xfrm>
        <a:custGeom>
          <a:avLst/>
          <a:gdLst/>
          <a:ahLst/>
          <a:cxnLst/>
          <a:rect l="0" t="0" r="0" b="0"/>
          <a:pathLst>
            <a:path>
              <a:moveTo>
                <a:pt x="7562896" y="0"/>
              </a:moveTo>
              <a:lnTo>
                <a:pt x="7562896" y="355350"/>
              </a:lnTo>
              <a:lnTo>
                <a:pt x="0" y="355350"/>
              </a:lnTo>
              <a:lnTo>
                <a:pt x="0" y="67650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136892" y="2276278"/>
        <a:ext cx="379794" cy="7071"/>
      </dsp:txXfrm>
    </dsp:sp>
    <dsp:sp modelId="{F7E9F0AB-DF4D-46D7-AE18-52343471DCEE}">
      <dsp:nvSpPr>
        <dsp:cNvPr id="0" name=""/>
        <dsp:cNvSpPr/>
      </dsp:nvSpPr>
      <dsp:spPr>
        <a:xfrm>
          <a:off x="7571063" y="98755"/>
          <a:ext cx="3074348" cy="1844608"/>
        </a:xfrm>
        <a:prstGeom prst="rect">
          <a:avLst/>
        </a:prstGeom>
        <a:solidFill>
          <a:schemeClr val="accent4"/>
        </a:solidFill>
        <a:ln w="1905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4"/>
        </a:fillRef>
        <a:effectRef idx="1">
          <a:schemeClr val="accent4"/>
        </a:effectRef>
        <a:fontRef idx="minor">
          <a:schemeClr val="lt1"/>
        </a:fontRef>
      </dsp:style>
      <dsp:txBody>
        <a:bodyPr spcFirstLastPara="0" vert="horz" wrap="square" lIns="150646" tIns="158129" rIns="150646" bIns="158129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kern="1200" dirty="0"/>
            <a:t>Un giocatore vince quando l'avversario, pur avendo ancora pezzi, non ha nessuna mossa legale disponibile (né semplici né catture).</a:t>
          </a:r>
          <a:endParaRPr lang="en-US" sz="1700" kern="1200" dirty="0"/>
        </a:p>
      </dsp:txBody>
      <dsp:txXfrm>
        <a:off x="7571063" y="98755"/>
        <a:ext cx="3074348" cy="1844608"/>
      </dsp:txXfrm>
    </dsp:sp>
    <dsp:sp modelId="{D12762D1-9202-493B-A2CE-92DEBF78F343}">
      <dsp:nvSpPr>
        <dsp:cNvPr id="0" name=""/>
        <dsp:cNvSpPr/>
      </dsp:nvSpPr>
      <dsp:spPr>
        <a:xfrm>
          <a:off x="3080715" y="3527048"/>
          <a:ext cx="67650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76500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401287" y="3569233"/>
        <a:ext cx="35355" cy="7071"/>
      </dsp:txXfrm>
    </dsp:sp>
    <dsp:sp modelId="{91E3604A-A676-41A6-8246-2B7D90DD0FCD}">
      <dsp:nvSpPr>
        <dsp:cNvPr id="0" name=""/>
        <dsp:cNvSpPr/>
      </dsp:nvSpPr>
      <dsp:spPr>
        <a:xfrm>
          <a:off x="8167" y="2650464"/>
          <a:ext cx="3074348" cy="1844608"/>
        </a:xfrm>
        <a:prstGeom prst="rect">
          <a:avLst/>
        </a:prstGeom>
        <a:solidFill>
          <a:schemeClr val="accent2"/>
        </a:solidFill>
        <a:ln w="1905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2"/>
        </a:fillRef>
        <a:effectRef idx="1">
          <a:schemeClr val="accent2"/>
        </a:effectRef>
        <a:fontRef idx="minor">
          <a:schemeClr val="lt1"/>
        </a:fontRef>
      </dsp:style>
      <dsp:txBody>
        <a:bodyPr spcFirstLastPara="0" vert="horz" wrap="square" lIns="150646" tIns="158129" rIns="150646" bIns="158129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kern="1200" dirty="0"/>
            <a:t>Se vengono eseguite 40 mosse consecutive senza che nessuno dei giocatori catturi un pezzo, la partita è dichiarata patta </a:t>
          </a:r>
          <a:r>
            <a:rPr lang="it-IT" sz="1700" b="1" kern="1200" dirty="0" err="1"/>
            <a:t>Patta</a:t>
          </a:r>
          <a:r>
            <a:rPr lang="it-IT" sz="1700" b="1" kern="1200" dirty="0"/>
            <a:t>.</a:t>
          </a:r>
          <a:endParaRPr lang="en-US" sz="1700" kern="1200" dirty="0"/>
        </a:p>
      </dsp:txBody>
      <dsp:txXfrm>
        <a:off x="8167" y="2650464"/>
        <a:ext cx="3074348" cy="1844608"/>
      </dsp:txXfrm>
    </dsp:sp>
    <dsp:sp modelId="{71C96CE3-699C-4B78-AD3A-B50454753CA8}">
      <dsp:nvSpPr>
        <dsp:cNvPr id="0" name=""/>
        <dsp:cNvSpPr/>
      </dsp:nvSpPr>
      <dsp:spPr>
        <a:xfrm>
          <a:off x="6862163" y="3527048"/>
          <a:ext cx="67650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76500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182736" y="3569233"/>
        <a:ext cx="35355" cy="7071"/>
      </dsp:txXfrm>
    </dsp:sp>
    <dsp:sp modelId="{C0F8A93B-DF2B-4144-9066-BE4E19812AD8}">
      <dsp:nvSpPr>
        <dsp:cNvPr id="0" name=""/>
        <dsp:cNvSpPr/>
      </dsp:nvSpPr>
      <dsp:spPr>
        <a:xfrm>
          <a:off x="3789615" y="2650464"/>
          <a:ext cx="3074348" cy="1844608"/>
        </a:xfrm>
        <a:prstGeom prst="rect">
          <a:avLst/>
        </a:prstGeom>
        <a:solidFill>
          <a:schemeClr val="accent6"/>
        </a:solidFill>
        <a:ln w="1905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6"/>
        </a:fillRef>
        <a:effectRef idx="1">
          <a:schemeClr val="accent6"/>
        </a:effectRef>
        <a:fontRef idx="minor">
          <a:schemeClr val="lt1"/>
        </a:fontRef>
      </dsp:style>
      <dsp:txBody>
        <a:bodyPr spcFirstLastPara="0" vert="horz" wrap="square" lIns="150646" tIns="158129" rIns="150646" bIns="158129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kern="1200" dirty="0"/>
            <a:t>Se la partita raggiunge 400 mosse totali (somma di tutte le mosse di entrambi i giocatori), è dichiarata patta. </a:t>
          </a:r>
          <a:r>
            <a:rPr lang="it-IT" sz="1700" b="1" kern="1200" dirty="0"/>
            <a:t>Mossa invalida</a:t>
          </a:r>
          <a:endParaRPr lang="en-US" sz="1700" kern="1200" dirty="0"/>
        </a:p>
      </dsp:txBody>
      <dsp:txXfrm>
        <a:off x="3789615" y="2650464"/>
        <a:ext cx="3074348" cy="1844608"/>
      </dsp:txXfrm>
    </dsp:sp>
    <dsp:sp modelId="{220382FC-A545-4E72-A7D5-58A5A58B082E}">
      <dsp:nvSpPr>
        <dsp:cNvPr id="0" name=""/>
        <dsp:cNvSpPr/>
      </dsp:nvSpPr>
      <dsp:spPr>
        <a:xfrm>
          <a:off x="7571063" y="2650464"/>
          <a:ext cx="3074348" cy="1844608"/>
        </a:xfrm>
        <a:prstGeom prst="rect">
          <a:avLst/>
        </a:prstGeom>
        <a:solidFill>
          <a:schemeClr val="accent1"/>
        </a:solidFill>
        <a:ln w="1905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dsp:style>
      <dsp:txBody>
        <a:bodyPr spcFirstLastPara="0" vert="horz" wrap="square" lIns="150646" tIns="158129" rIns="150646" bIns="158129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kern="1200" dirty="0"/>
            <a:t>Se un giocatore (tipicamente l'IA) restituisce una mossa invalida </a:t>
          </a:r>
          <a:r>
            <a:rPr lang="it-IT" sz="1700" i="1" kern="1200" dirty="0"/>
            <a:t>(codice speciale </a:t>
          </a:r>
          <a:r>
            <a:rPr lang="it-IT" sz="1700" i="1" kern="1200" dirty="0" err="1"/>
            <a:t>Move</a:t>
          </a:r>
          <a:r>
            <a:rPr lang="it-IT" sz="1700" i="1" kern="1200" dirty="0"/>
            <a:t>{255, 255})</a:t>
          </a:r>
          <a:r>
            <a:rPr lang="it-IT" sz="1700" kern="1200" dirty="0"/>
            <a:t>, l'avversario vince automaticamente</a:t>
          </a:r>
          <a:endParaRPr lang="en-US" sz="1700" kern="1200" dirty="0"/>
        </a:p>
      </dsp:txBody>
      <dsp:txXfrm>
        <a:off x="7571063" y="2650464"/>
        <a:ext cx="3074348" cy="184460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096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856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130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743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7/13/2026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30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7/13/2026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098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7/13/2026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600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016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54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837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803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624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sv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8">
            <a:extLst>
              <a:ext uri="{FF2B5EF4-FFF2-40B4-BE49-F238E27FC236}">
                <a16:creationId xmlns:a16="http://schemas.microsoft.com/office/drawing/2014/main" id="{5E5473D2-DD46-DFAF-84EC-264D6CE58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CEB6A8E9-D86D-BF73-F569-BE05EC9B7A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3394" y="1585762"/>
            <a:ext cx="3788767" cy="2811737"/>
          </a:xfrm>
        </p:spPr>
        <p:txBody>
          <a:bodyPr>
            <a:normAutofit/>
          </a:bodyPr>
          <a:lstStyle/>
          <a:p>
            <a:pPr algn="l"/>
            <a:r>
              <a:rPr lang="it-IT" sz="4400"/>
              <a:t>DAMA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1FB1D2C3-549F-ECCB-8C22-3CFBC74E1C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3395" y="4524046"/>
            <a:ext cx="3614857" cy="1319951"/>
          </a:xfrm>
        </p:spPr>
        <p:txBody>
          <a:bodyPr>
            <a:normAutofit/>
          </a:bodyPr>
          <a:lstStyle/>
          <a:p>
            <a:pPr algn="l"/>
            <a:r>
              <a:rPr lang="it-IT" dirty="0"/>
              <a:t>Progetto di </a:t>
            </a:r>
            <a:r>
              <a:rPr lang="it-IT" dirty="0" err="1"/>
              <a:t>Intelligent</a:t>
            </a:r>
            <a:r>
              <a:rPr lang="it-IT" dirty="0"/>
              <a:t> Web: Sviluppo di I.A. che giocano  a dama</a:t>
            </a:r>
          </a:p>
        </p:txBody>
      </p:sp>
      <p:pic>
        <p:nvPicPr>
          <p:cNvPr id="16" name="Picture 3" descr="Linea di traguardo sull’asfalto">
            <a:extLst>
              <a:ext uri="{FF2B5EF4-FFF2-40B4-BE49-F238E27FC236}">
                <a16:creationId xmlns:a16="http://schemas.microsoft.com/office/drawing/2014/main" id="{38460811-F218-6834-04EF-1AE428E87D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437" r="1" b="1"/>
          <a:stretch>
            <a:fillRect/>
          </a:stretch>
        </p:blipFill>
        <p:spPr>
          <a:xfrm>
            <a:off x="2" y="10"/>
            <a:ext cx="736775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033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961259D-605E-E200-FF9F-7C8C71D7C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AF2798F5-3980-AB34-56A3-C66BBBA0E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0074"/>
            <a:ext cx="6035040" cy="1529932"/>
          </a:xfrm>
        </p:spPr>
        <p:txBody>
          <a:bodyPr anchor="b">
            <a:normAutofit/>
          </a:bodyPr>
          <a:lstStyle/>
          <a:p>
            <a:r>
              <a:rPr lang="it-IT" dirty="0"/>
              <a:t>DAMA ITALIANA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3EF4267-1BAE-31C2-DC2B-8AC514A7EE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2212848"/>
            <a:ext cx="6035041" cy="4096512"/>
          </a:xfrm>
        </p:spPr>
        <p:txBody>
          <a:bodyPr>
            <a:normAutofit/>
          </a:bodyPr>
          <a:lstStyle/>
          <a:p>
            <a:r>
              <a:rPr lang="it-IT" sz="1800" dirty="0"/>
              <a:t>La Dama Italiana è un gioco da tavolo di strategia a informazione perfetta, caratterizzato da un insieme di regole complesse e dinamiche. L'implementazione software di questo gioco non si limita alla semplice rappresentazione grafica della scacchiera, ma richiede un motore logico rigoroso e algoritmi di intelligenza artificiale avanzati per gestire lo spazio degli stati, che cresce in modo esponenziale ad ogni mossa.</a:t>
            </a:r>
          </a:p>
        </p:txBody>
      </p:sp>
      <p:pic>
        <p:nvPicPr>
          <p:cNvPr id="5" name="Picture 4" descr="Pezzi degli scacchi su una scacchiera">
            <a:extLst>
              <a:ext uri="{FF2B5EF4-FFF2-40B4-BE49-F238E27FC236}">
                <a16:creationId xmlns:a16="http://schemas.microsoft.com/office/drawing/2014/main" id="{576989D5-579C-F99D-17A9-17C4A286F0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050" r="21780" b="-1"/>
          <a:stretch>
            <a:fillRect/>
          </a:stretch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8408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ACA6F80-D392-A64E-3CF8-F28F1CCEE6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A1C2A232-35BE-E4BC-04F9-76E7510C7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9" y="548640"/>
            <a:ext cx="4779572" cy="2067705"/>
          </a:xfrm>
        </p:spPr>
        <p:txBody>
          <a:bodyPr anchor="t">
            <a:normAutofit/>
          </a:bodyPr>
          <a:lstStyle/>
          <a:p>
            <a:r>
              <a:rPr lang="it-IT" dirty="0"/>
              <a:t>USO DELL I.A.</a:t>
            </a:r>
          </a:p>
        </p:txBody>
      </p:sp>
      <p:pic>
        <p:nvPicPr>
          <p:cNvPr id="7" name="Graphic 6" descr="Chess Pieces">
            <a:extLst>
              <a:ext uri="{FF2B5EF4-FFF2-40B4-BE49-F238E27FC236}">
                <a16:creationId xmlns:a16="http://schemas.microsoft.com/office/drawing/2014/main" id="{73E7EA91-7012-7A2B-55CC-8142AAD10A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520" y="2976281"/>
            <a:ext cx="3333077" cy="3333077"/>
          </a:xfrm>
          <a:prstGeom prst="rect">
            <a:avLst/>
          </a:prstGeom>
        </p:spPr>
      </p:pic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FE3A881-27F8-5B7F-1467-EF2A2D8AE2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0551" y="548638"/>
            <a:ext cx="5546770" cy="5760721"/>
          </a:xfrm>
        </p:spPr>
        <p:txBody>
          <a:bodyPr anchor="t">
            <a:normAutofit/>
          </a:bodyPr>
          <a:lstStyle/>
          <a:p>
            <a:r>
              <a:rPr lang="it-IT" sz="1800" dirty="0"/>
              <a:t>A differenza dei motori di scacchi classici (come Stockfish) che usano algoritmi deterministici come il </a:t>
            </a:r>
            <a:r>
              <a:rPr lang="it-IT" sz="1800" i="1" dirty="0"/>
              <a:t>Minimax</a:t>
            </a:r>
            <a:r>
              <a:rPr lang="it-IT" sz="1800" dirty="0"/>
              <a:t> con potatura </a:t>
            </a:r>
            <a:r>
              <a:rPr lang="it-IT" sz="1800" i="1" dirty="0"/>
              <a:t>Alpha-Beta</a:t>
            </a:r>
            <a:r>
              <a:rPr lang="it-IT" sz="1800" dirty="0"/>
              <a:t>, il nostro progetto si basa sul </a:t>
            </a:r>
            <a:r>
              <a:rPr lang="it-IT" sz="1800" b="1" dirty="0"/>
              <a:t>Monte Carlo Tree Search (MCTS)</a:t>
            </a:r>
            <a:r>
              <a:rPr lang="it-IT" sz="1800" dirty="0"/>
              <a:t>.</a:t>
            </a:r>
          </a:p>
          <a:p>
            <a:endParaRPr lang="it-IT" sz="1800" dirty="0"/>
          </a:p>
          <a:p>
            <a:r>
              <a:rPr lang="it-IT" sz="1800" dirty="0"/>
              <a:t>Esso è composto da 4 fasi specifiche per la selezione della mossa migliore da attuare contro i suoi avversari:</a:t>
            </a:r>
          </a:p>
          <a:p>
            <a:r>
              <a:rPr lang="it-IT" sz="1800" b="1" dirty="0"/>
              <a:t>Selezione</a:t>
            </a:r>
          </a:p>
          <a:p>
            <a:r>
              <a:rPr lang="it-IT" sz="1800" b="1" dirty="0"/>
              <a:t>Espansione</a:t>
            </a:r>
          </a:p>
          <a:p>
            <a:r>
              <a:rPr lang="it-IT" sz="1800" b="1" dirty="0"/>
              <a:t>Simulazione</a:t>
            </a:r>
          </a:p>
          <a:p>
            <a:r>
              <a:rPr lang="it-IT" sz="1800" b="1" dirty="0"/>
              <a:t>Back-</a:t>
            </a:r>
            <a:r>
              <a:rPr lang="it-IT" sz="1800" b="1" dirty="0" err="1"/>
              <a:t>Propagation</a:t>
            </a:r>
            <a:endParaRPr lang="it-IT" sz="1800" b="1" dirty="0"/>
          </a:p>
        </p:txBody>
      </p:sp>
    </p:spTree>
    <p:extLst>
      <p:ext uri="{BB962C8B-B14F-4D97-AF65-F5344CB8AC3E}">
        <p14:creationId xmlns:p14="http://schemas.microsoft.com/office/powerpoint/2010/main" val="2635088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heck">
          <a:fgClr>
            <a:schemeClr val="bg2">
              <a:lumMod val="90000"/>
            </a:schemeClr>
          </a:fgClr>
          <a:bgClr>
            <a:schemeClr val="bg1">
              <a:lumMod val="75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9">
            <a:extLst>
              <a:ext uri="{FF2B5EF4-FFF2-40B4-BE49-F238E27FC236}">
                <a16:creationId xmlns:a16="http://schemas.microsoft.com/office/drawing/2014/main" id="{C20CE451-818C-E63D-258B-234B6C543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2B356887-9E58-D93F-3A1A-CAC69D5CA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3504"/>
            <a:ext cx="4361686" cy="1527048"/>
          </a:xfrm>
        </p:spPr>
        <p:txBody>
          <a:bodyPr anchor="b">
            <a:normAutofit/>
          </a:bodyPr>
          <a:lstStyle/>
          <a:p>
            <a:r>
              <a:rPr lang="it-IT" sz="3300" dirty="0"/>
              <a:t>FASE 1 – COSTRUZIONE DELLA DAMA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EE77E41-2667-0781-EE8B-5946C18047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2212848"/>
            <a:ext cx="4361687" cy="4096512"/>
          </a:xfrm>
        </p:spPr>
        <p:txBody>
          <a:bodyPr>
            <a:normAutofit/>
          </a:bodyPr>
          <a:lstStyle/>
          <a:p>
            <a:r>
              <a:rPr lang="it-IT" sz="1800" dirty="0"/>
              <a:t>Si inizia il progetto con la costruzione della tavola, delle pedine e delle mosse attuabili rispettando un certo set di regole</a:t>
            </a:r>
          </a:p>
          <a:p>
            <a:r>
              <a:rPr lang="it-IT" sz="1800" dirty="0"/>
              <a:t>Si procede con la definizione di una Board 8x8 a celle alternate (chiare, scure)</a:t>
            </a:r>
          </a:p>
          <a:p>
            <a:r>
              <a:rPr lang="it-IT" sz="1800" dirty="0"/>
              <a:t>Dalla riga 0 alla riga 2 ci sono le pedine </a:t>
            </a:r>
            <a:r>
              <a:rPr lang="it-IT" sz="1800" b="1" dirty="0"/>
              <a:t>Nere (IA)</a:t>
            </a:r>
          </a:p>
          <a:p>
            <a:r>
              <a:rPr lang="it-IT" sz="1800" dirty="0"/>
              <a:t>Dalla riga 5 alla riga 7, ci sono le pedine </a:t>
            </a:r>
            <a:r>
              <a:rPr lang="it-IT" sz="1800" b="1" dirty="0">
                <a:solidFill>
                  <a:schemeClr val="bg1"/>
                </a:solidFill>
              </a:rPr>
              <a:t>Bianche (Utente)</a:t>
            </a:r>
          </a:p>
          <a:p>
            <a:endParaRPr lang="it-IT" sz="1800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BC0986E1-8B0E-8692-B75D-5AE2666001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689" r="2385"/>
          <a:stretch>
            <a:fillRect/>
          </a:stretch>
        </p:blipFill>
        <p:spPr>
          <a:xfrm>
            <a:off x="5818632" y="160773"/>
            <a:ext cx="6373368" cy="6536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954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51922D2-D397-9EA4-A66D-55B0884D1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3C50EE7-6EBE-6CA5-4929-6B8F4B165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9"/>
            <a:ext cx="3494314" cy="5786638"/>
          </a:xfrm>
        </p:spPr>
        <p:txBody>
          <a:bodyPr anchor="t">
            <a:normAutofit/>
          </a:bodyPr>
          <a:lstStyle/>
          <a:p>
            <a:r>
              <a:rPr lang="it-IT" dirty="0"/>
              <a:t>FASE 2 - REGOLE</a:t>
            </a:r>
          </a:p>
        </p:txBody>
      </p: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072D02AA-0243-EADB-8078-70FCB8EAD9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14540825"/>
              </p:ext>
            </p:extLst>
          </p:nvPr>
        </p:nvGraphicFramePr>
        <p:xfrm>
          <a:off x="4608246" y="548640"/>
          <a:ext cx="6949440" cy="5786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674084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D587E41-605C-A8E4-8BA5-0E0B3797C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Rete con spilli">
            <a:extLst>
              <a:ext uri="{FF2B5EF4-FFF2-40B4-BE49-F238E27FC236}">
                <a16:creationId xmlns:a16="http://schemas.microsoft.com/office/drawing/2014/main" id="{2A4417DE-FE73-7E62-FF19-D36BC634F3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34" t="23103" r="755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BD48A03-0DF9-3063-CB15-1BC2AEC79F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908385"/>
            <a:ext cx="12191999" cy="1949616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A45DB894-50F2-DB0D-9273-88DEB3C67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365" y="5268812"/>
            <a:ext cx="7260542" cy="12287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400">
                <a:solidFill>
                  <a:srgbClr val="FFFFFF"/>
                </a:solidFill>
              </a:rPr>
              <a:t>FASE 3 – PEDINE NERE (INTRO ALL’ALGORITMO MCTS)</a:t>
            </a:r>
          </a:p>
        </p:txBody>
      </p:sp>
    </p:spTree>
    <p:extLst>
      <p:ext uri="{BB962C8B-B14F-4D97-AF65-F5344CB8AC3E}">
        <p14:creationId xmlns:p14="http://schemas.microsoft.com/office/powerpoint/2010/main" val="38866907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353CF00F-82D0-0DBA-75D5-1D01B4526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AC26276C-1975-3E79-D2C2-210248A22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945037" cy="1133856"/>
          </a:xfrm>
        </p:spPr>
        <p:txBody>
          <a:bodyPr anchor="t">
            <a:normAutofit/>
          </a:bodyPr>
          <a:lstStyle/>
          <a:p>
            <a:r>
              <a:rPr lang="it-IT"/>
              <a:t>MCTS</a:t>
            </a:r>
          </a:p>
        </p:txBody>
      </p:sp>
      <p:graphicFrame>
        <p:nvGraphicFramePr>
          <p:cNvPr id="12" name="Segnaposto contenuto 2">
            <a:extLst>
              <a:ext uri="{FF2B5EF4-FFF2-40B4-BE49-F238E27FC236}">
                <a16:creationId xmlns:a16="http://schemas.microsoft.com/office/drawing/2014/main" id="{BE1C2832-96C9-2C8E-8929-FA75CC650D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1160632"/>
              </p:ext>
            </p:extLst>
          </p:nvPr>
        </p:nvGraphicFramePr>
        <p:xfrm>
          <a:off x="612648" y="2560319"/>
          <a:ext cx="10945037" cy="37350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CasellaDiTesto 3">
            <a:extLst>
              <a:ext uri="{FF2B5EF4-FFF2-40B4-BE49-F238E27FC236}">
                <a16:creationId xmlns:a16="http://schemas.microsoft.com/office/drawing/2014/main" id="{A4136B62-D62C-341C-FD09-D6DA627E01AE}"/>
              </a:ext>
            </a:extLst>
          </p:cNvPr>
          <p:cNvSpPr txBox="1"/>
          <p:nvPr/>
        </p:nvSpPr>
        <p:spPr>
          <a:xfrm>
            <a:off x="528320" y="1452880"/>
            <a:ext cx="108610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Il MCTS è particolarmente adatto perché: Non richiede una funzione di valutazione complessa (basta sapere se alla fine si è vinto, perso o pareggiato). Si adatta dinamicamente alle regole complesse (come la presa obbligatoria) poiché si basa sul generatore di mosse legali. È "anytime": può essere interrotto in qualsiasi momento (quando scade il tempo a disposizione) e restituisce comunque la mossa migliore trovata finora.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9763999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50DFC9D-89CA-AA57-F538-0A02ABD7F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CICLO MCTS</a:t>
            </a:r>
          </a:p>
        </p:txBody>
      </p: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A676A6BD-0325-43C3-592E-DD4C1D41EF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61319298"/>
              </p:ext>
            </p:extLst>
          </p:nvPr>
        </p:nvGraphicFramePr>
        <p:xfrm>
          <a:off x="612647" y="1715532"/>
          <a:ext cx="10653579" cy="45938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272118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heck">
          <a:fgClr>
            <a:schemeClr val="bg2">
              <a:lumMod val="75000"/>
            </a:schemeClr>
          </a:fgClr>
          <a:bgClr>
            <a:schemeClr val="bg1">
              <a:lumMod val="85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207B083-EAC0-A5BB-C369-C9589EC7F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BD5DC94-BA23-A4DB-2ABB-7D9A99176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603504"/>
            <a:ext cx="10872216" cy="1527048"/>
          </a:xfrm>
        </p:spPr>
        <p:txBody>
          <a:bodyPr anchor="b">
            <a:normAutofit/>
          </a:bodyPr>
          <a:lstStyle/>
          <a:p>
            <a:r>
              <a:rPr lang="it-IT" dirty="0"/>
              <a:t>BITBOARD</a:t>
            </a:r>
          </a:p>
        </p:txBody>
      </p:sp>
      <p:pic>
        <p:nvPicPr>
          <p:cNvPr id="7" name="Graphic 6" descr="Chess Pieces">
            <a:extLst>
              <a:ext uri="{FF2B5EF4-FFF2-40B4-BE49-F238E27FC236}">
                <a16:creationId xmlns:a16="http://schemas.microsoft.com/office/drawing/2014/main" id="{38162435-E2B3-185D-E9BC-0DDA9D0A15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14678" y="2441274"/>
            <a:ext cx="3817941" cy="3817941"/>
          </a:xfrm>
          <a:prstGeom prst="rect">
            <a:avLst/>
          </a:prstGeom>
        </p:spPr>
      </p:pic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119D66C-74B7-51A9-7A6F-0C77098CB7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75852" y="1421296"/>
            <a:ext cx="5905964" cy="4837919"/>
          </a:xfrm>
        </p:spPr>
        <p:txBody>
          <a:bodyPr anchor="t">
            <a:normAutofit fontScale="77500" lnSpcReduction="20000"/>
          </a:bodyPr>
          <a:lstStyle/>
          <a:p>
            <a:pPr>
              <a:lnSpc>
                <a:spcPct val="110000"/>
              </a:lnSpc>
            </a:pPr>
            <a:r>
              <a:rPr lang="it-IT" sz="2300" dirty="0"/>
              <a:t>In un approccio tradizionale, la scacchiera viene rappresentata come una matrice bidimensionale: </a:t>
            </a:r>
            <a:r>
              <a:rPr lang="it-IT" sz="2300" dirty="0" err="1"/>
              <a:t>int</a:t>
            </a:r>
            <a:r>
              <a:rPr lang="it-IT" sz="2300" dirty="0"/>
              <a:t> board[8][8]; Per sapere cosa c'è in una casella, il programma deve calcolare l'indirizzo di memoria, accedere alla riga, poi alla colonna e leggere il valore intero. Questo richiede cicli di clock e accessi alla memoria cache.</a:t>
            </a:r>
          </a:p>
          <a:p>
            <a:pPr>
              <a:lnSpc>
                <a:spcPct val="110000"/>
              </a:lnSpc>
            </a:pPr>
            <a:endParaRPr lang="it-IT" sz="2300" dirty="0"/>
          </a:p>
          <a:p>
            <a:pPr>
              <a:lnSpc>
                <a:spcPct val="110000"/>
              </a:lnSpc>
            </a:pPr>
            <a:r>
              <a:rPr lang="it-IT" sz="2300" dirty="0"/>
              <a:t>Un </a:t>
            </a:r>
            <a:r>
              <a:rPr lang="it-IT" sz="2300" b="1" dirty="0" err="1"/>
              <a:t>Bitboard</a:t>
            </a:r>
            <a:r>
              <a:rPr lang="it-IT" sz="2300" dirty="0"/>
              <a:t> cambia radicalmente questo paradigma. Sfrutta il fatto che la nostra scacchiera ha 64 caselle (8x8) e che un intero a 64 bit (uint64_t in C) ha esattamente 64 bit. L'idea è semplice: </a:t>
            </a:r>
            <a:r>
              <a:rPr lang="it-IT" sz="2300" b="1" dirty="0"/>
              <a:t>ogni bit del numero rappresenta una casella della scacchiera</a:t>
            </a:r>
            <a:r>
              <a:rPr lang="it-IT" sz="2300" dirty="0"/>
              <a:t>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it-IT" sz="2300" dirty="0"/>
              <a:t>Se il bit è </a:t>
            </a:r>
            <a:r>
              <a:rPr lang="it-IT" sz="2300" b="1" dirty="0"/>
              <a:t>1</a:t>
            </a:r>
            <a:r>
              <a:rPr lang="it-IT" sz="2300" dirty="0"/>
              <a:t>, la casella è occupata (o ha una specifica caratteristica).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it-IT" sz="2300" dirty="0"/>
              <a:t>Se il bit è </a:t>
            </a:r>
            <a:r>
              <a:rPr lang="it-IT" sz="2300" b="1" dirty="0"/>
              <a:t>0</a:t>
            </a:r>
            <a:r>
              <a:rPr lang="it-IT" sz="2300" dirty="0"/>
              <a:t>, la casella è vuota.</a:t>
            </a:r>
          </a:p>
          <a:p>
            <a:pPr>
              <a:lnSpc>
                <a:spcPct val="110000"/>
              </a:lnSpc>
            </a:pPr>
            <a:endParaRPr lang="it-IT" sz="1300" dirty="0"/>
          </a:p>
        </p:txBody>
      </p:sp>
    </p:spTree>
    <p:extLst>
      <p:ext uri="{BB962C8B-B14F-4D97-AF65-F5344CB8AC3E}">
        <p14:creationId xmlns:p14="http://schemas.microsoft.com/office/powerpoint/2010/main" val="17882017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51922D2-D397-9EA4-A66D-55B0884D1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FD70E37-9289-4244-716F-BABFD0014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9"/>
            <a:ext cx="3494314" cy="5786638"/>
          </a:xfrm>
        </p:spPr>
        <p:txBody>
          <a:bodyPr anchor="t">
            <a:normAutofit/>
          </a:bodyPr>
          <a:lstStyle/>
          <a:p>
            <a:r>
              <a:rPr lang="it-IT" dirty="0"/>
              <a:t>ANYTIME</a:t>
            </a:r>
          </a:p>
        </p:txBody>
      </p: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D8AE832F-59E9-42C6-9552-20CD4E3587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173407"/>
              </p:ext>
            </p:extLst>
          </p:nvPr>
        </p:nvGraphicFramePr>
        <p:xfrm>
          <a:off x="4608246" y="548640"/>
          <a:ext cx="6949440" cy="5786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909634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1E0DC6F-DB0E-DBE1-8178-AE81BC6B96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Gocciolina d'acqua su un petalo">
            <a:extLst>
              <a:ext uri="{FF2B5EF4-FFF2-40B4-BE49-F238E27FC236}">
                <a16:creationId xmlns:a16="http://schemas.microsoft.com/office/drawing/2014/main" id="{DCC85FF3-A8DA-5674-C950-AED8F582F3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5" name="Rectangle 10">
            <a:extLst>
              <a:ext uri="{FF2B5EF4-FFF2-40B4-BE49-F238E27FC236}">
                <a16:creationId xmlns:a16="http://schemas.microsoft.com/office/drawing/2014/main" id="{84D07BF5-D29E-918E-55FE-747AF2A0E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366726" cy="6858001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9F9AEE4D-6085-8DE7-51C4-1696A8DFD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035" y="1424475"/>
            <a:ext cx="3424383" cy="254344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dirty="0"/>
              <a:t>FASE 4 – ALGORITMI UCB1 E PUCT</a:t>
            </a:r>
          </a:p>
        </p:txBody>
      </p:sp>
    </p:spTree>
    <p:extLst>
      <p:ext uri="{BB962C8B-B14F-4D97-AF65-F5344CB8AC3E}">
        <p14:creationId xmlns:p14="http://schemas.microsoft.com/office/powerpoint/2010/main" val="26832280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628B317-6621-EE13-679A-3A27482C2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MAB</a:t>
            </a:r>
          </a:p>
        </p:txBody>
      </p:sp>
      <p:pic>
        <p:nvPicPr>
          <p:cNvPr id="7" name="Elemento grafico 6" descr="Cura con riempimento a tinta unita">
            <a:extLst>
              <a:ext uri="{FF2B5EF4-FFF2-40B4-BE49-F238E27FC236}">
                <a16:creationId xmlns:a16="http://schemas.microsoft.com/office/drawing/2014/main" id="{FD8D80BD-5470-0BCC-20D0-2E55F68164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81248" y="1368972"/>
            <a:ext cx="4474780" cy="4474780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910616BA-9CB2-BA12-ED3C-96B075073FB7}"/>
              </a:ext>
            </a:extLst>
          </p:cNvPr>
          <p:cNvSpPr txBox="1"/>
          <p:nvPr/>
        </p:nvSpPr>
        <p:spPr>
          <a:xfrm>
            <a:off x="798786" y="4550979"/>
            <a:ext cx="2625134" cy="369332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it-IT" dirty="0"/>
              <a:t>UCB1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228BCDC6-220C-1842-D0FC-E90808625F56}"/>
              </a:ext>
            </a:extLst>
          </p:cNvPr>
          <p:cNvSpPr txBox="1"/>
          <p:nvPr/>
        </p:nvSpPr>
        <p:spPr>
          <a:xfrm>
            <a:off x="7813390" y="4562015"/>
            <a:ext cx="3026980" cy="369332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it-IT" dirty="0"/>
              <a:t>PUCT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E27D152-968E-E9D5-ECB4-481E8DB9D7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15532"/>
            <a:ext cx="10653579" cy="2026151"/>
          </a:xfrm>
        </p:spPr>
        <p:txBody>
          <a:bodyPr/>
          <a:lstStyle/>
          <a:p>
            <a:pPr marL="0" indent="0">
              <a:buNone/>
            </a:pPr>
            <a:r>
              <a:rPr lang="it-IT" dirty="0"/>
              <a:t>Nel cuore dell'algoritmo MCTS, durante la Fase 1 (Selezione), l'algoritmo deve decidere quale nodo figlio visitare. Si trova di fronte al classico dilemma del Multi-</a:t>
            </a:r>
            <a:r>
              <a:rPr lang="it-IT" dirty="0" err="1"/>
              <a:t>Armed</a:t>
            </a:r>
            <a:r>
              <a:rPr lang="it-IT" dirty="0"/>
              <a:t> </a:t>
            </a:r>
            <a:r>
              <a:rPr lang="it-IT" dirty="0" err="1"/>
              <a:t>Bandit</a:t>
            </a:r>
            <a:r>
              <a:rPr lang="it-IT" dirty="0"/>
              <a:t> (MAB). Se l'IA sfrutta troppo, potrebbe perdere una mossa geniale ma controintuitiva. Se esplora troppo, spreca tempo calcolando mosse palesemente sbagliate. Per risolvere questo dilemma, il progetto implementa due distinte politiche di selezione: </a:t>
            </a:r>
          </a:p>
          <a:p>
            <a:pPr marL="0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760165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C88E015-E55C-AC1F-E392-8E9C15891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UCB1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1C7AF03-15B1-0557-6FBC-C00CA71E8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dirty="0"/>
              <a:t>L'UCB1 è l'algoritmo storico e più diffuso per la selezione nel MCTS. La sua formula matematica calcola un "punteggio di urgenza" per ogni nodo figlio.</a:t>
            </a:r>
          </a:p>
          <a:p>
            <a:pPr marL="0" indent="0">
              <a:buNone/>
            </a:pPr>
            <a:r>
              <a:rPr lang="it-IT" dirty="0"/>
              <a:t>Ecco le varianti utilizzate: </a:t>
            </a:r>
          </a:p>
          <a:p>
            <a:r>
              <a:rPr lang="it-IT" b="1" dirty="0"/>
              <a:t>UCB1 Classic</a:t>
            </a:r>
          </a:p>
          <a:p>
            <a:r>
              <a:rPr lang="it-IT" b="1" dirty="0"/>
              <a:t>UCB1 Delta </a:t>
            </a:r>
          </a:p>
          <a:p>
            <a:r>
              <a:rPr lang="it-IT" b="1" dirty="0"/>
              <a:t>UCB1 Alpha</a:t>
            </a:r>
          </a:p>
          <a:p>
            <a:r>
              <a:rPr lang="it-IT" b="1" dirty="0"/>
              <a:t>UCB1 Fast 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it-IT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56153EB4-A501-78AE-8A37-CB019BDE68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0723" y="3078450"/>
            <a:ext cx="2918713" cy="350550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F295BA77-40E0-8773-97E7-79EECA8AD4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6929" y="3429000"/>
            <a:ext cx="5258256" cy="617273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614556FF-DAA0-7132-321E-FFBD1A4078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6929" y="4088062"/>
            <a:ext cx="3856054" cy="472481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82EA365B-5C44-4DD9-3FBF-41BBE362E6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3875" y="4602332"/>
            <a:ext cx="3292125" cy="441998"/>
          </a:xfrm>
          <a:prstGeom prst="rect">
            <a:avLst/>
          </a:prstGeom>
        </p:spPr>
      </p:pic>
      <p:sp>
        <p:nvSpPr>
          <p:cNvPr id="13" name="Rettangolo 12">
            <a:extLst>
              <a:ext uri="{FF2B5EF4-FFF2-40B4-BE49-F238E27FC236}">
                <a16:creationId xmlns:a16="http://schemas.microsoft.com/office/drawing/2014/main" id="{BCCFE19A-3577-5F71-2104-C63A4BE145E0}"/>
              </a:ext>
            </a:extLst>
          </p:cNvPr>
          <p:cNvSpPr/>
          <p:nvPr/>
        </p:nvSpPr>
        <p:spPr>
          <a:xfrm>
            <a:off x="0" y="0"/>
            <a:ext cx="10563260" cy="1329632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E3C8F254-2F78-418E-374D-8558AE140E6C}"/>
              </a:ext>
            </a:extLst>
          </p:cNvPr>
          <p:cNvSpPr/>
          <p:nvPr/>
        </p:nvSpPr>
        <p:spPr>
          <a:xfrm>
            <a:off x="10563260" y="0"/>
            <a:ext cx="1628739" cy="6858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980595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913B0DF-4424-4503-10D8-41275870A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PUCT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B0B3868-1F57-B1E7-A832-ED41F5CC58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dirty="0"/>
              <a:t>Il PUCT è l'evoluzione moderna dell'UCB1, resa celebre da </a:t>
            </a:r>
            <a:r>
              <a:rPr lang="it-IT" dirty="0" err="1"/>
              <a:t>AlphaGo</a:t>
            </a:r>
            <a:r>
              <a:rPr lang="it-IT" dirty="0"/>
              <a:t> e </a:t>
            </a:r>
            <a:r>
              <a:rPr lang="it-IT" dirty="0" err="1"/>
              <a:t>AlphaZero</a:t>
            </a:r>
            <a:r>
              <a:rPr lang="it-IT" dirty="0"/>
              <a:t> di </a:t>
            </a:r>
            <a:r>
              <a:rPr lang="it-IT" dirty="0" err="1"/>
              <a:t>DeepMind</a:t>
            </a:r>
            <a:r>
              <a:rPr lang="it-IT" dirty="0"/>
              <a:t>. La differenza fondamentale è l'introduzione di una Probabilità a Priori (P).</a:t>
            </a:r>
          </a:p>
          <a:p>
            <a:pPr marL="0" indent="0">
              <a:buNone/>
            </a:pPr>
            <a:r>
              <a:rPr lang="it-IT" dirty="0"/>
              <a:t>Le varianti utilizzate sono:</a:t>
            </a:r>
          </a:p>
          <a:p>
            <a:pPr marL="0" indent="0">
              <a:buNone/>
            </a:pPr>
            <a:r>
              <a:rPr lang="it-IT" b="1" dirty="0"/>
              <a:t>PUCT formula base   </a:t>
            </a:r>
          </a:p>
          <a:p>
            <a:r>
              <a:rPr lang="it-IT" b="1" dirty="0"/>
              <a:t>PUCT Standard </a:t>
            </a:r>
          </a:p>
          <a:p>
            <a:r>
              <a:rPr lang="it-IT" b="1" dirty="0"/>
              <a:t>PUCT </a:t>
            </a:r>
            <a:r>
              <a:rPr lang="it-IT" b="1" dirty="0" err="1"/>
              <a:t>Explorative</a:t>
            </a:r>
            <a:r>
              <a:rPr lang="it-IT" b="1" dirty="0"/>
              <a:t>  </a:t>
            </a:r>
          </a:p>
          <a:p>
            <a:r>
              <a:rPr lang="it-IT" b="1" dirty="0"/>
              <a:t>PUCT </a:t>
            </a:r>
            <a:r>
              <a:rPr lang="it-IT" b="1" dirty="0" err="1"/>
              <a:t>Balanced</a:t>
            </a:r>
            <a:endParaRPr lang="it-IT" b="1" dirty="0"/>
          </a:p>
          <a:p>
            <a:r>
              <a:rPr lang="it-IT" b="1" dirty="0"/>
              <a:t>PUCT </a:t>
            </a:r>
            <a:r>
              <a:rPr lang="it-IT" b="1" dirty="0" err="1"/>
              <a:t>Heuristic</a:t>
            </a:r>
            <a:r>
              <a:rPr lang="it-IT" b="1" dirty="0"/>
              <a:t> 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02AD52A9-B1A2-2A4A-6A90-A0F34E86A1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8199" y="3032726"/>
            <a:ext cx="3665538" cy="396274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6B315817-22D8-D19C-0F52-86A8191524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4928" y="3669516"/>
            <a:ext cx="1775614" cy="342930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CD2DCDE9-22C6-E473-41EC-786A88FB27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9818" y="4154511"/>
            <a:ext cx="1752752" cy="281964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296B502F-4805-EC09-BB0B-162E6B57AC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4094" y="4678663"/>
            <a:ext cx="1798476" cy="381033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0CD4F917-A105-9878-FAE2-DC38BB7F63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56422" y="5161986"/>
            <a:ext cx="4092295" cy="388654"/>
          </a:xfrm>
          <a:prstGeom prst="rect">
            <a:avLst/>
          </a:prstGeom>
        </p:spPr>
      </p:pic>
      <p:sp>
        <p:nvSpPr>
          <p:cNvPr id="14" name="Rettangolo 13">
            <a:extLst>
              <a:ext uri="{FF2B5EF4-FFF2-40B4-BE49-F238E27FC236}">
                <a16:creationId xmlns:a16="http://schemas.microsoft.com/office/drawing/2014/main" id="{E6E1B17A-1A0D-74DC-580B-86F3D9000EFE}"/>
              </a:ext>
            </a:extLst>
          </p:cNvPr>
          <p:cNvSpPr/>
          <p:nvPr/>
        </p:nvSpPr>
        <p:spPr>
          <a:xfrm>
            <a:off x="10589342" y="0"/>
            <a:ext cx="1602658" cy="685800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3544CF07-4A01-0544-EC2C-32AAE637F454}"/>
              </a:ext>
            </a:extLst>
          </p:cNvPr>
          <p:cNvSpPr/>
          <p:nvPr/>
        </p:nvSpPr>
        <p:spPr>
          <a:xfrm>
            <a:off x="0" y="0"/>
            <a:ext cx="10589342" cy="1307360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890201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DA9942F-A18C-9E9D-BF08-9291C54E1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13BF0B08-FE30-B5F8-4F14-C6AF7C7AF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9809" y="353681"/>
            <a:ext cx="6572382" cy="97431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100" dirty="0"/>
              <a:t>FASE 5 – ORGANIZZAZIONE TORNEO DI IA CONTRO IA</a:t>
            </a:r>
          </a:p>
        </p:txBody>
      </p:sp>
      <p:pic>
        <p:nvPicPr>
          <p:cNvPr id="7" name="Graphic 6" descr="Trofeo">
            <a:extLst>
              <a:ext uri="{FF2B5EF4-FFF2-40B4-BE49-F238E27FC236}">
                <a16:creationId xmlns:a16="http://schemas.microsoft.com/office/drawing/2014/main" id="{A545AD6A-1A7A-9108-0E46-8EC92EDCF1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30769" y="1429352"/>
            <a:ext cx="4330461" cy="4330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809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BB0869A-0BE5-B3E9-F73D-2F3691E4D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DC071B82-9F21-F87C-80BC-1801E7F82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728" y="434560"/>
            <a:ext cx="4621553" cy="1360728"/>
          </a:xfrm>
        </p:spPr>
        <p:txBody>
          <a:bodyPr anchor="b">
            <a:normAutofit/>
          </a:bodyPr>
          <a:lstStyle/>
          <a:p>
            <a:r>
              <a:rPr lang="it-IT" dirty="0"/>
              <a:t>STRUTTURA TORNEO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24E66C8D-C485-A6AD-CD0A-328E4C7D88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1261" y="1919485"/>
            <a:ext cx="5837780" cy="3019029"/>
          </a:xfrm>
          <a:prstGeom prst="rect">
            <a:avLst/>
          </a:prstGeom>
        </p:spPr>
      </p:pic>
      <p:graphicFrame>
        <p:nvGraphicFramePr>
          <p:cNvPr id="12" name="Segnaposto contenuto 2">
            <a:extLst>
              <a:ext uri="{FF2B5EF4-FFF2-40B4-BE49-F238E27FC236}">
                <a16:creationId xmlns:a16="http://schemas.microsoft.com/office/drawing/2014/main" id="{6CD523B3-BAE6-CED8-8CE6-70395733161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40531832"/>
              </p:ext>
            </p:extLst>
          </p:nvPr>
        </p:nvGraphicFramePr>
        <p:xfrm>
          <a:off x="534854" y="2116698"/>
          <a:ext cx="4621553" cy="31590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1607232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D59064A-7BD3-673D-2606-9507EFB48A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A8E5E983-D0F5-2433-4E8A-FA4097F95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680" y="5358268"/>
            <a:ext cx="7204271" cy="1094733"/>
          </a:xfrm>
        </p:spPr>
        <p:txBody>
          <a:bodyPr>
            <a:normAutofit/>
          </a:bodyPr>
          <a:lstStyle/>
          <a:p>
            <a:r>
              <a:rPr lang="it-IT" dirty="0"/>
              <a:t>PUNTEGGI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7A4ADC47-9450-09A4-0E20-C8236557FA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" b="1945"/>
          <a:stretch>
            <a:fillRect/>
          </a:stretch>
        </p:blipFill>
        <p:spPr>
          <a:xfrm>
            <a:off x="419099" y="419102"/>
            <a:ext cx="7129183" cy="4663886"/>
          </a:xfrm>
          <a:prstGeom prst="rect">
            <a:avLst/>
          </a:prstGeom>
        </p:spPr>
      </p:pic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834C4C6-3401-5C6F-8B25-196A26A03C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7975" y="418916"/>
            <a:ext cx="3434399" cy="6033900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it-IT" sz="1500"/>
              <a:t>Oltre al risultato binario (vittoria/sconfitta), il torneo implementa un sistema di punteggio cumulativo per produrre una classifica più sfumata e statisticamente significativa. Il punteggio di ogni IA in un match è calcolato come il numero di pedine avversarie catturate: Se alla fine del match il Bianco ha ancora 8 pezzi e il Nero ne ha 4: Punti del Bianco: 12 - 4 = 8 (ha mangiato 8 pezzi neri) Punti del Nero: 12 - 8 = 4 (ha mangiato 4 pezzi bianchi) I punti vengono sommati match dopo match nell'array globale </a:t>
            </a:r>
            <a:r>
              <a:rPr lang="it-IT" sz="1500" i="1"/>
              <a:t>engine_points[8]</a:t>
            </a:r>
            <a:r>
              <a:rPr lang="it-IT" sz="1500"/>
              <a:t>. La classifica finale è ordinata per punti cumulativi decrescenti, non per vittorie.</a:t>
            </a:r>
          </a:p>
        </p:txBody>
      </p:sp>
    </p:spTree>
    <p:extLst>
      <p:ext uri="{BB962C8B-B14F-4D97-AF65-F5344CB8AC3E}">
        <p14:creationId xmlns:p14="http://schemas.microsoft.com/office/powerpoint/2010/main" val="8903489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2CC1E4F-F1F0-B945-BE50-C72A7103E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C8B3ECF0-A638-DCF3-F6C7-F035FBAD2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3007" y="603501"/>
            <a:ext cx="4361693" cy="1527049"/>
          </a:xfrm>
        </p:spPr>
        <p:txBody>
          <a:bodyPr anchor="b">
            <a:normAutofit/>
          </a:bodyPr>
          <a:lstStyle/>
          <a:p>
            <a:endParaRPr lang="it-IT" dirty="0"/>
          </a:p>
        </p:txBody>
      </p:sp>
      <p:pic>
        <p:nvPicPr>
          <p:cNvPr id="5" name="Picture 4" descr="Un gruppo di case gialle">
            <a:extLst>
              <a:ext uri="{FF2B5EF4-FFF2-40B4-BE49-F238E27FC236}">
                <a16:creationId xmlns:a16="http://schemas.microsoft.com/office/drawing/2014/main" id="{0ED36F7B-BB9A-CF83-C138-C9775D865D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60" r="28906" b="-1"/>
          <a:stretch>
            <a:fillRect/>
          </a:stretch>
        </p:blipFill>
        <p:spPr>
          <a:xfrm>
            <a:off x="1" y="10"/>
            <a:ext cx="6373368" cy="6857990"/>
          </a:xfrm>
          <a:prstGeom prst="rect">
            <a:avLst/>
          </a:prstGeom>
        </p:spPr>
      </p:pic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E615B06-1ACA-C224-513D-00D30B6DE8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01838" y="2800601"/>
            <a:ext cx="4361693" cy="2557980"/>
          </a:xfrm>
        </p:spPr>
        <p:txBody>
          <a:bodyPr>
            <a:normAutofit/>
          </a:bodyPr>
          <a:lstStyle/>
          <a:p>
            <a:r>
              <a:rPr lang="it-IT" sz="1800" b="1" dirty="0"/>
              <a:t>Tramite la classifica si potrà individuare l’IA più forte contro cui giocare, non per forza deve essere l’IA che vince il torneo ad essere la più forte!</a:t>
            </a:r>
          </a:p>
        </p:txBody>
      </p:sp>
      <p:sp>
        <p:nvSpPr>
          <p:cNvPr id="4" name="Stella a 5 punte 3">
            <a:extLst>
              <a:ext uri="{FF2B5EF4-FFF2-40B4-BE49-F238E27FC236}">
                <a16:creationId xmlns:a16="http://schemas.microsoft.com/office/drawing/2014/main" id="{F6A71F05-FFC8-6904-AF18-2FB278B78706}"/>
              </a:ext>
            </a:extLst>
          </p:cNvPr>
          <p:cNvSpPr/>
          <p:nvPr/>
        </p:nvSpPr>
        <p:spPr>
          <a:xfrm>
            <a:off x="8503920" y="457200"/>
            <a:ext cx="1666240" cy="1595120"/>
          </a:xfrm>
          <a:prstGeom prst="star5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879455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18">
            <a:extLst>
              <a:ext uri="{FF2B5EF4-FFF2-40B4-BE49-F238E27FC236}">
                <a16:creationId xmlns:a16="http://schemas.microsoft.com/office/drawing/2014/main" id="{9B61FEBE-B024-E867-ADF8-B65D117A2E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8372C2E4-EE51-2425-8AF2-0136C2AE9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50" y="603504"/>
            <a:ext cx="7333171" cy="1527048"/>
          </a:xfrm>
        </p:spPr>
        <p:txBody>
          <a:bodyPr anchor="b">
            <a:normAutofit/>
          </a:bodyPr>
          <a:lstStyle/>
          <a:p>
            <a:r>
              <a:rPr lang="it-IT" dirty="0"/>
              <a:t>CONCLUSIONI - </a:t>
            </a:r>
            <a:r>
              <a:rPr lang="it-IT" dirty="0" err="1"/>
              <a:t>main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DA97BCB-9C34-717A-6415-0E57445659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50" y="2212848"/>
            <a:ext cx="7333171" cy="40965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1800" dirty="0"/>
              <a:t>L’intero progetto è quindi suddiviso in </a:t>
            </a:r>
            <a:r>
              <a:rPr lang="it-IT" sz="1800" i="1" u="sng" dirty="0" err="1"/>
              <a:t>main.c</a:t>
            </a:r>
            <a:r>
              <a:rPr lang="it-IT" sz="1800" i="1" u="sng" dirty="0"/>
              <a:t> </a:t>
            </a:r>
            <a:r>
              <a:rPr lang="it-IT" sz="1800" dirty="0"/>
              <a:t>che si occupa delle partite IA contro utente, il quale quest’ultimo può scegliere contro chi giocare ed impostarne i parametri</a:t>
            </a:r>
            <a:endParaRPr lang="it-IT" sz="1800" i="1" u="sng" dirty="0"/>
          </a:p>
          <a:p>
            <a:pPr marL="0" indent="0">
              <a:buNone/>
            </a:pPr>
            <a:endParaRPr lang="it-IT" sz="1800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60BD5244-3880-3E4E-F520-9846ABC065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1" b="523"/>
          <a:stretch>
            <a:fillRect/>
          </a:stretch>
        </p:blipFill>
        <p:spPr>
          <a:xfrm>
            <a:off x="8730108" y="10"/>
            <a:ext cx="3461891" cy="3405485"/>
          </a:xfrm>
          <a:prstGeom prst="rect">
            <a:avLst/>
          </a:prstGeom>
        </p:spPr>
      </p:pic>
      <p:sp>
        <p:nvSpPr>
          <p:cNvPr id="9" name="Triangolo rettangolo 8">
            <a:extLst>
              <a:ext uri="{FF2B5EF4-FFF2-40B4-BE49-F238E27FC236}">
                <a16:creationId xmlns:a16="http://schemas.microsoft.com/office/drawing/2014/main" id="{74CAFD4A-63EA-1B68-CCF5-3A75A3BEECB0}"/>
              </a:ext>
            </a:extLst>
          </p:cNvPr>
          <p:cNvSpPr/>
          <p:nvPr/>
        </p:nvSpPr>
        <p:spPr>
          <a:xfrm>
            <a:off x="-1" y="0"/>
            <a:ext cx="12191999" cy="6857990"/>
          </a:xfrm>
          <a:prstGeom prst="rtTriangl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BDCB598E-7BDA-3B8D-CC6A-B8ED23B170E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" b="5405"/>
          <a:stretch>
            <a:fillRect/>
          </a:stretch>
        </p:blipFill>
        <p:spPr>
          <a:xfrm>
            <a:off x="8730108" y="3454171"/>
            <a:ext cx="3461891" cy="3403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5886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3">
            <a:extLst>
              <a:ext uri="{FF2B5EF4-FFF2-40B4-BE49-F238E27FC236}">
                <a16:creationId xmlns:a16="http://schemas.microsoft.com/office/drawing/2014/main" id="{DA63A5E4-19F8-B272-83C0-F5EB39419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10AA5601-D7D6-0A6E-A764-9DDCA64EB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548641"/>
            <a:ext cx="10872216" cy="1030778"/>
          </a:xfrm>
        </p:spPr>
        <p:txBody>
          <a:bodyPr anchor="t">
            <a:normAutofit/>
          </a:bodyPr>
          <a:lstStyle/>
          <a:p>
            <a:r>
              <a:rPr lang="it-IT" dirty="0"/>
              <a:t>CONCLUSIONI – </a:t>
            </a:r>
            <a:r>
              <a:rPr lang="it-IT" dirty="0" err="1"/>
              <a:t>tournament_main</a:t>
            </a:r>
            <a:endParaRPr lang="it-IT" dirty="0"/>
          </a:p>
        </p:txBody>
      </p:sp>
      <p:sp>
        <p:nvSpPr>
          <p:cNvPr id="10" name="Triangolo rettangolo 9">
            <a:extLst>
              <a:ext uri="{FF2B5EF4-FFF2-40B4-BE49-F238E27FC236}">
                <a16:creationId xmlns:a16="http://schemas.microsoft.com/office/drawing/2014/main" id="{EE2B3454-F4C8-FA98-715A-9D7576FB8B78}"/>
              </a:ext>
            </a:extLst>
          </p:cNvPr>
          <p:cNvSpPr/>
          <p:nvPr/>
        </p:nvSpPr>
        <p:spPr>
          <a:xfrm rot="16200000">
            <a:off x="2667000" y="-2667000"/>
            <a:ext cx="6858000" cy="12192000"/>
          </a:xfrm>
          <a:prstGeom prst="rtTriangl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48BD67B1-75CC-7824-5377-FEF292B7CB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681" r="3" b="27532"/>
          <a:stretch>
            <a:fillRect/>
          </a:stretch>
        </p:blipFill>
        <p:spPr>
          <a:xfrm>
            <a:off x="3209444" y="4740915"/>
            <a:ext cx="2420042" cy="1554480"/>
          </a:xfrm>
          <a:prstGeom prst="rect">
            <a:avLst/>
          </a:prstGeom>
        </p:spPr>
      </p:pic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EF29D08-67AC-52C1-CEF0-2AFDB8ABFA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9435" y="1773935"/>
            <a:ext cx="5245428" cy="4535423"/>
          </a:xfrm>
        </p:spPr>
        <p:txBody>
          <a:bodyPr>
            <a:normAutofit/>
          </a:bodyPr>
          <a:lstStyle/>
          <a:p>
            <a:r>
              <a:rPr lang="it-IT" sz="1800"/>
              <a:t>Successivamente si ha il torneo, in questo caso pero il progesso delle partite è in automatico</a:t>
            </a:r>
          </a:p>
          <a:p>
            <a:r>
              <a:rPr lang="it-IT" sz="1800"/>
              <a:t>Le mosse è lo svolgimento di ogni singola partita è possibile visualizzarlo su terminale, mentre i risultati, dopo la terminazione, direttamente sull’interfaccia e sul report finale</a:t>
            </a:r>
          </a:p>
          <a:p>
            <a:r>
              <a:rPr lang="it-IT" sz="1800"/>
              <a:t>Con il tasto «Esci» si ritorna al main.c che ci permette di giocare contro un IA, magari proprio con la vincitrice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02CE29B8-E5D8-D6C9-2A52-41158FF085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394" b="-9"/>
          <a:stretch>
            <a:fillRect/>
          </a:stretch>
        </p:blipFill>
        <p:spPr>
          <a:xfrm>
            <a:off x="729304" y="4740915"/>
            <a:ext cx="2423911" cy="1555280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C3B24C4C-AD67-1579-D8DE-CFF2C04178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4" b="11410"/>
          <a:stretch>
            <a:fillRect/>
          </a:stretch>
        </p:blipFill>
        <p:spPr>
          <a:xfrm>
            <a:off x="729305" y="1782339"/>
            <a:ext cx="4900181" cy="2896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9909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8C7294B-8CB3-1116-CBFD-4FC155BE4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TERMINAZIONE PARTITA</a:t>
            </a:r>
          </a:p>
        </p:txBody>
      </p: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50B09B8F-38AF-BA6A-7B3E-82A9B7B573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3142000"/>
              </p:ext>
            </p:extLst>
          </p:nvPr>
        </p:nvGraphicFramePr>
        <p:xfrm>
          <a:off x="612647" y="1715532"/>
          <a:ext cx="10653579" cy="45938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933117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DA9942F-A18C-9E9D-BF08-9291C54E1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16F61800-5C83-0CFD-10DC-E214FBA72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9809" y="353681"/>
            <a:ext cx="6572382" cy="97431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000" dirty="0"/>
              <a:t>GRAZIE PER LA VISIONE</a:t>
            </a:r>
          </a:p>
        </p:txBody>
      </p:sp>
      <p:pic>
        <p:nvPicPr>
          <p:cNvPr id="7" name="Graphic 6" descr="Smiling Face with No Fill">
            <a:extLst>
              <a:ext uri="{FF2B5EF4-FFF2-40B4-BE49-F238E27FC236}">
                <a16:creationId xmlns:a16="http://schemas.microsoft.com/office/drawing/2014/main" id="{56368767-D3DD-2E15-B4FD-69A7DAAD4A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30769" y="1429352"/>
            <a:ext cx="4330461" cy="4330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763881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1504</Words>
  <Application>Microsoft Office PowerPoint</Application>
  <PresentationFormat>Widescreen</PresentationFormat>
  <Paragraphs>87</Paragraphs>
  <Slides>22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22</vt:i4>
      </vt:variant>
    </vt:vector>
  </HeadingPairs>
  <TitlesOfParts>
    <vt:vector size="25" baseType="lpstr">
      <vt:lpstr>Arial</vt:lpstr>
      <vt:lpstr>Neue Haas Grotesk Text Pro</vt:lpstr>
      <vt:lpstr>VanillaVTI</vt:lpstr>
      <vt:lpstr>DAMA</vt:lpstr>
      <vt:lpstr>DAMA ITALIANA</vt:lpstr>
      <vt:lpstr>USO DELL I.A.</vt:lpstr>
      <vt:lpstr>FASE 1 – COSTRUZIONE DELLA DAMA</vt:lpstr>
      <vt:lpstr>FASE 2 - REGOLE</vt:lpstr>
      <vt:lpstr>FASE 3 – PEDINE NERE (INTRO ALL’ALGORITMO MCTS)</vt:lpstr>
      <vt:lpstr>MCTS</vt:lpstr>
      <vt:lpstr>CICLO MCTS</vt:lpstr>
      <vt:lpstr>BITBOARD</vt:lpstr>
      <vt:lpstr>ANYTIME</vt:lpstr>
      <vt:lpstr>FASE 4 – ALGORITMI UCB1 E PUCT</vt:lpstr>
      <vt:lpstr>MAB</vt:lpstr>
      <vt:lpstr>UCB1</vt:lpstr>
      <vt:lpstr>PUCT</vt:lpstr>
      <vt:lpstr>FASE 5 – ORGANIZZAZIONE TORNEO DI IA CONTRO IA</vt:lpstr>
      <vt:lpstr>STRUTTURA TORNEO</vt:lpstr>
      <vt:lpstr>PUNTEGGI</vt:lpstr>
      <vt:lpstr>Presentazione standard di PowerPoint</vt:lpstr>
      <vt:lpstr>CONCLUSIONI - main</vt:lpstr>
      <vt:lpstr>CONCLUSIONI – tournament_main</vt:lpstr>
      <vt:lpstr>TERMINAZIONE PARTITA</vt:lpstr>
      <vt:lpstr>GRAZIE PER LA VISIONE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EMANUELE DE STENA</dc:creator>
  <cp:lastModifiedBy>EMANUELE DE STENA</cp:lastModifiedBy>
  <cp:revision>4</cp:revision>
  <dcterms:created xsi:type="dcterms:W3CDTF">2026-07-06T08:22:00Z</dcterms:created>
  <dcterms:modified xsi:type="dcterms:W3CDTF">2026-07-13T08:43:18Z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d0b24d-6422-44b0-b3de-abb3a9e8c81a_Enabled">
    <vt:lpwstr>true</vt:lpwstr>
  </property>
  <property fmtid="{D5CDD505-2E9C-101B-9397-08002B2CF9AE}" pid="3" name="MSIP_Label_2ad0b24d-6422-44b0-b3de-abb3a9e8c81a_SetDate">
    <vt:lpwstr>2026-07-06T08:24:08Z</vt:lpwstr>
  </property>
  <property fmtid="{D5CDD505-2E9C-101B-9397-08002B2CF9AE}" pid="4" name="MSIP_Label_2ad0b24d-6422-44b0-b3de-abb3a9e8c81a_Method">
    <vt:lpwstr>Standard</vt:lpwstr>
  </property>
  <property fmtid="{D5CDD505-2E9C-101B-9397-08002B2CF9AE}" pid="5" name="MSIP_Label_2ad0b24d-6422-44b0-b3de-abb3a9e8c81a_Name">
    <vt:lpwstr>defa4170-0d19-0005-0004-bc88714345d2</vt:lpwstr>
  </property>
  <property fmtid="{D5CDD505-2E9C-101B-9397-08002B2CF9AE}" pid="6" name="MSIP_Label_2ad0b24d-6422-44b0-b3de-abb3a9e8c81a_SiteId">
    <vt:lpwstr>2fcfe26a-bb62-46b0-b1e3-28f9da0c45fd</vt:lpwstr>
  </property>
  <property fmtid="{D5CDD505-2E9C-101B-9397-08002B2CF9AE}" pid="7" name="MSIP_Label_2ad0b24d-6422-44b0-b3de-abb3a9e8c81a_ActionId">
    <vt:lpwstr>818a8092-aaa5-4bf9-9668-5c7080f6d3b3</vt:lpwstr>
  </property>
  <property fmtid="{D5CDD505-2E9C-101B-9397-08002B2CF9AE}" pid="8" name="MSIP_Label_2ad0b24d-6422-44b0-b3de-abb3a9e8c81a_ContentBits">
    <vt:lpwstr>0</vt:lpwstr>
  </property>
  <property fmtid="{D5CDD505-2E9C-101B-9397-08002B2CF9AE}" pid="9" name="MSIP_Label_2ad0b24d-6422-44b0-b3de-abb3a9e8c81a_Tag">
    <vt:lpwstr>10, 3, 0, 1</vt:lpwstr>
  </property>
</Properties>
</file>